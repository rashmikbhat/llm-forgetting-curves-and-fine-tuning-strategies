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97" d="100"/>
          <a:sy n="97" d="100"/>
        </p:scale>
        <p:origin x="1074" y="30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1D3A8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1" i="0">
                <a:solidFill>
                  <a:srgbClr val="1D3A8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1" i="0">
                <a:solidFill>
                  <a:srgbClr val="1D3A8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1" i="0">
                <a:solidFill>
                  <a:srgbClr val="1D3A8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38100"/>
          </a:xfrm>
          <a:custGeom>
            <a:avLst/>
            <a:gdLst/>
            <a:ahLst/>
            <a:cxnLst/>
            <a:rect l="l" t="t" r="r" b="b"/>
            <a:pathLst>
              <a:path w="12192000" h="38100">
                <a:moveTo>
                  <a:pt x="12191999" y="38099"/>
                </a:moveTo>
                <a:lnTo>
                  <a:pt x="0" y="38099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38099"/>
                </a:lnTo>
                <a:close/>
              </a:path>
            </a:pathLst>
          </a:custGeom>
          <a:solidFill>
            <a:srgbClr val="1D3A8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1175" y="1532452"/>
            <a:ext cx="11169650" cy="4121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1D3A8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23874" y="1781174"/>
            <a:ext cx="11144250" cy="28575"/>
          </a:xfrm>
          <a:custGeom>
            <a:avLst/>
            <a:gdLst/>
            <a:ahLst/>
            <a:cxnLst/>
            <a:rect l="l" t="t" r="r" b="b"/>
            <a:pathLst>
              <a:path w="11144250" h="28575">
                <a:moveTo>
                  <a:pt x="11144249" y="28574"/>
                </a:moveTo>
                <a:lnTo>
                  <a:pt x="0" y="28574"/>
                </a:lnTo>
                <a:lnTo>
                  <a:pt x="0" y="0"/>
                </a:lnTo>
                <a:lnTo>
                  <a:pt x="11144249" y="0"/>
                </a:lnTo>
                <a:lnTo>
                  <a:pt x="11144249" y="28574"/>
                </a:lnTo>
                <a:close/>
              </a:path>
            </a:pathLst>
          </a:custGeom>
          <a:solidFill>
            <a:srgbClr val="3B81F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11175" y="1341952"/>
            <a:ext cx="5873750" cy="41211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pc="-190" dirty="0"/>
              <a:t>Catastrophic</a:t>
            </a:r>
            <a:r>
              <a:rPr spc="-155" dirty="0"/>
              <a:t> </a:t>
            </a:r>
            <a:r>
              <a:rPr spc="-170" dirty="0"/>
              <a:t>Forgetting</a:t>
            </a:r>
            <a:r>
              <a:rPr spc="-155" dirty="0"/>
              <a:t> </a:t>
            </a:r>
            <a:r>
              <a:rPr spc="-65" dirty="0"/>
              <a:t>in</a:t>
            </a:r>
            <a:r>
              <a:rPr spc="-150" dirty="0"/>
              <a:t> </a:t>
            </a:r>
            <a:r>
              <a:rPr spc="-125" dirty="0"/>
              <a:t>Fine-</a:t>
            </a:r>
            <a:r>
              <a:rPr spc="-190" dirty="0"/>
              <a:t>Tuned</a:t>
            </a:r>
            <a:r>
              <a:rPr spc="-155" dirty="0"/>
              <a:t> </a:t>
            </a:r>
            <a:r>
              <a:rPr spc="-70" dirty="0"/>
              <a:t>LLMs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523874" y="1962149"/>
            <a:ext cx="5495925" cy="3657600"/>
            <a:chOff x="523874" y="1962149"/>
            <a:chExt cx="5495925" cy="365760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61974" y="1962149"/>
              <a:ext cx="5457824" cy="1704974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23874" y="1962149"/>
              <a:ext cx="52069" cy="1704975"/>
            </a:xfrm>
            <a:custGeom>
              <a:avLst/>
              <a:gdLst/>
              <a:ahLst/>
              <a:cxnLst/>
              <a:rect l="l" t="t" r="r" b="b"/>
              <a:pathLst>
                <a:path w="52070" h="1704975">
                  <a:moveTo>
                    <a:pt x="51889" y="1704974"/>
                  </a:moveTo>
                  <a:lnTo>
                    <a:pt x="49571" y="1704974"/>
                  </a:lnTo>
                  <a:lnTo>
                    <a:pt x="42281" y="1703524"/>
                  </a:lnTo>
                  <a:lnTo>
                    <a:pt x="7250" y="1676696"/>
                  </a:lnTo>
                  <a:lnTo>
                    <a:pt x="0" y="1655403"/>
                  </a:lnTo>
                  <a:lnTo>
                    <a:pt x="0" y="49571"/>
                  </a:lnTo>
                  <a:lnTo>
                    <a:pt x="22097" y="11380"/>
                  </a:lnTo>
                  <a:lnTo>
                    <a:pt x="49571" y="0"/>
                  </a:lnTo>
                  <a:lnTo>
                    <a:pt x="51889" y="0"/>
                  </a:lnTo>
                  <a:lnTo>
                    <a:pt x="47399" y="5579"/>
                  </a:lnTo>
                  <a:lnTo>
                    <a:pt x="43679" y="16738"/>
                  </a:lnTo>
                  <a:lnTo>
                    <a:pt x="41238" y="25541"/>
                  </a:lnTo>
                  <a:lnTo>
                    <a:pt x="39494" y="35211"/>
                  </a:lnTo>
                  <a:lnTo>
                    <a:pt x="38448" y="45747"/>
                  </a:lnTo>
                  <a:lnTo>
                    <a:pt x="38100" y="57150"/>
                  </a:lnTo>
                  <a:lnTo>
                    <a:pt x="38100" y="1647824"/>
                  </a:lnTo>
                  <a:lnTo>
                    <a:pt x="43679" y="1688235"/>
                  </a:lnTo>
                  <a:lnTo>
                    <a:pt x="47399" y="1699395"/>
                  </a:lnTo>
                  <a:lnTo>
                    <a:pt x="51889" y="1704974"/>
                  </a:lnTo>
                  <a:close/>
                </a:path>
              </a:pathLst>
            </a:custGeom>
            <a:solidFill>
              <a:srgbClr val="F7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61974" y="3705224"/>
              <a:ext cx="5457824" cy="133349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23874" y="3705224"/>
              <a:ext cx="52069" cy="1333500"/>
            </a:xfrm>
            <a:custGeom>
              <a:avLst/>
              <a:gdLst/>
              <a:ahLst/>
              <a:cxnLst/>
              <a:rect l="l" t="t" r="r" b="b"/>
              <a:pathLst>
                <a:path w="52070" h="1333500">
                  <a:moveTo>
                    <a:pt x="51889" y="1333499"/>
                  </a:moveTo>
                  <a:lnTo>
                    <a:pt x="49571" y="1333499"/>
                  </a:lnTo>
                  <a:lnTo>
                    <a:pt x="42281" y="1332050"/>
                  </a:lnTo>
                  <a:lnTo>
                    <a:pt x="7250" y="1305221"/>
                  </a:lnTo>
                  <a:lnTo>
                    <a:pt x="0" y="1283928"/>
                  </a:lnTo>
                  <a:lnTo>
                    <a:pt x="0" y="49571"/>
                  </a:lnTo>
                  <a:lnTo>
                    <a:pt x="22097" y="11379"/>
                  </a:lnTo>
                  <a:lnTo>
                    <a:pt x="49571" y="0"/>
                  </a:lnTo>
                  <a:lnTo>
                    <a:pt x="51889" y="0"/>
                  </a:lnTo>
                  <a:lnTo>
                    <a:pt x="47399" y="5579"/>
                  </a:lnTo>
                  <a:lnTo>
                    <a:pt x="43679" y="16738"/>
                  </a:lnTo>
                  <a:lnTo>
                    <a:pt x="41238" y="25541"/>
                  </a:lnTo>
                  <a:lnTo>
                    <a:pt x="39494" y="35211"/>
                  </a:lnTo>
                  <a:lnTo>
                    <a:pt x="38448" y="45747"/>
                  </a:lnTo>
                  <a:lnTo>
                    <a:pt x="38100" y="57150"/>
                  </a:lnTo>
                  <a:lnTo>
                    <a:pt x="38100" y="1276350"/>
                  </a:lnTo>
                  <a:lnTo>
                    <a:pt x="43679" y="1316761"/>
                  </a:lnTo>
                  <a:lnTo>
                    <a:pt x="47399" y="1327920"/>
                  </a:lnTo>
                  <a:lnTo>
                    <a:pt x="51889" y="1333499"/>
                  </a:lnTo>
                  <a:close/>
                </a:path>
              </a:pathLst>
            </a:custGeom>
            <a:solidFill>
              <a:srgbClr val="60A5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61974" y="5076824"/>
              <a:ext cx="5457824" cy="54292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523874" y="5076824"/>
              <a:ext cx="52069" cy="542925"/>
            </a:xfrm>
            <a:custGeom>
              <a:avLst/>
              <a:gdLst/>
              <a:ahLst/>
              <a:cxnLst/>
              <a:rect l="l" t="t" r="r" b="b"/>
              <a:pathLst>
                <a:path w="52070" h="542925">
                  <a:moveTo>
                    <a:pt x="51889" y="542924"/>
                  </a:moveTo>
                  <a:lnTo>
                    <a:pt x="49571" y="542924"/>
                  </a:lnTo>
                  <a:lnTo>
                    <a:pt x="42281" y="541474"/>
                  </a:lnTo>
                  <a:lnTo>
                    <a:pt x="7250" y="514646"/>
                  </a:lnTo>
                  <a:lnTo>
                    <a:pt x="0" y="493353"/>
                  </a:lnTo>
                  <a:lnTo>
                    <a:pt x="0" y="49571"/>
                  </a:lnTo>
                  <a:lnTo>
                    <a:pt x="22097" y="11379"/>
                  </a:lnTo>
                  <a:lnTo>
                    <a:pt x="49571" y="0"/>
                  </a:lnTo>
                  <a:lnTo>
                    <a:pt x="51889" y="0"/>
                  </a:lnTo>
                  <a:lnTo>
                    <a:pt x="47399" y="5579"/>
                  </a:lnTo>
                  <a:lnTo>
                    <a:pt x="43679" y="16738"/>
                  </a:lnTo>
                  <a:lnTo>
                    <a:pt x="41238" y="25541"/>
                  </a:lnTo>
                  <a:lnTo>
                    <a:pt x="39494" y="35211"/>
                  </a:lnTo>
                  <a:lnTo>
                    <a:pt x="38448" y="45747"/>
                  </a:lnTo>
                  <a:lnTo>
                    <a:pt x="38100" y="57150"/>
                  </a:lnTo>
                  <a:lnTo>
                    <a:pt x="38100" y="485775"/>
                  </a:lnTo>
                  <a:lnTo>
                    <a:pt x="43679" y="526185"/>
                  </a:lnTo>
                  <a:lnTo>
                    <a:pt x="47399" y="537345"/>
                  </a:lnTo>
                  <a:lnTo>
                    <a:pt x="51889" y="542924"/>
                  </a:lnTo>
                  <a:close/>
                </a:path>
              </a:pathLst>
            </a:custGeom>
            <a:solidFill>
              <a:srgbClr val="33D39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644524" y="3206018"/>
            <a:ext cx="5182235" cy="387350"/>
          </a:xfrm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sz="1050" b="1" spc="-80" dirty="0">
                <a:solidFill>
                  <a:srgbClr val="0E1729"/>
                </a:solidFill>
                <a:latin typeface="Arial"/>
                <a:cs typeface="Arial"/>
              </a:rPr>
              <a:t>Empirical</a:t>
            </a:r>
            <a:r>
              <a:rPr sz="1050" b="1" spc="-1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90" dirty="0">
                <a:solidFill>
                  <a:srgbClr val="0E1729"/>
                </a:solidFill>
                <a:latin typeface="Arial"/>
                <a:cs typeface="Arial"/>
              </a:rPr>
              <a:t>Example:</a:t>
            </a:r>
            <a:r>
              <a:rPr sz="1050" b="1" spc="-1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160" dirty="0">
                <a:solidFill>
                  <a:srgbClr val="465469"/>
                </a:solidFill>
                <a:latin typeface="Arial"/>
                <a:cs typeface="Arial"/>
              </a:rPr>
              <a:t>GPT-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2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baseline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WikiText-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2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14" dirty="0">
                <a:solidFill>
                  <a:srgbClr val="465469"/>
                </a:solidFill>
                <a:latin typeface="Arial"/>
                <a:cs typeface="Arial"/>
              </a:rPr>
              <a:t>PPL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10" dirty="0">
                <a:solidFill>
                  <a:srgbClr val="465469"/>
                </a:solidFill>
                <a:latin typeface="Arial"/>
                <a:cs typeface="Arial"/>
              </a:rPr>
              <a:t>=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29.4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465469"/>
                </a:solidFill>
                <a:latin typeface="Segoe UI"/>
                <a:cs typeface="Segoe UI"/>
              </a:rPr>
              <a:t>→</a:t>
            </a:r>
            <a:r>
              <a:rPr sz="950" spc="20" dirty="0">
                <a:solidFill>
                  <a:srgbClr val="465469"/>
                </a:solidFill>
                <a:latin typeface="Segoe UI"/>
                <a:cs typeface="Segoe UI"/>
              </a:rPr>
              <a:t> 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After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65" dirty="0">
                <a:solidFill>
                  <a:srgbClr val="465469"/>
                </a:solidFill>
                <a:latin typeface="Arial"/>
                <a:cs typeface="Arial"/>
              </a:rPr>
              <a:t>SST-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2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fine-</a:t>
            </a: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tuning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14" dirty="0">
                <a:solidFill>
                  <a:srgbClr val="465469"/>
                </a:solidFill>
                <a:latin typeface="Arial"/>
                <a:cs typeface="Arial"/>
              </a:rPr>
              <a:t>PPL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10" dirty="0">
                <a:solidFill>
                  <a:srgbClr val="465469"/>
                </a:solidFill>
                <a:latin typeface="Arial"/>
                <a:cs typeface="Arial"/>
              </a:rPr>
              <a:t>=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465469"/>
                </a:solidFill>
                <a:latin typeface="Arial"/>
                <a:cs typeface="Arial"/>
              </a:rPr>
              <a:t>35.8</a:t>
            </a:r>
            <a:endParaRPr sz="11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950" dirty="0">
                <a:solidFill>
                  <a:srgbClr val="465469"/>
                </a:solidFill>
                <a:latin typeface="Segoe UI"/>
                <a:cs typeface="Segoe UI"/>
              </a:rPr>
              <a:t>→</a:t>
            </a:r>
            <a:r>
              <a:rPr sz="950" spc="10" dirty="0">
                <a:solidFill>
                  <a:srgbClr val="465469"/>
                </a:solidFill>
                <a:latin typeface="Segoe UI"/>
                <a:cs typeface="Segoe UI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Degradation: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050" b="1" spc="-20" dirty="0">
                <a:solidFill>
                  <a:srgbClr val="DB2525"/>
                </a:solidFill>
                <a:latin typeface="Arial"/>
                <a:cs typeface="Arial"/>
              </a:rPr>
              <a:t>+22%</a:t>
            </a:r>
            <a:endParaRPr sz="1050"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44524" y="5111114"/>
            <a:ext cx="4725670" cy="434975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80"/>
              </a:spcBef>
            </a:pPr>
            <a:r>
              <a:rPr sz="1150" b="1" spc="-100" dirty="0">
                <a:solidFill>
                  <a:srgbClr val="2562EB"/>
                </a:solidFill>
                <a:latin typeface="Arial"/>
                <a:cs typeface="Arial"/>
              </a:rPr>
              <a:t>Evaluation</a:t>
            </a:r>
            <a:r>
              <a:rPr sz="1150" b="1" spc="10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10" dirty="0">
                <a:solidFill>
                  <a:srgbClr val="2562EB"/>
                </a:solidFill>
                <a:latin typeface="Arial"/>
                <a:cs typeface="Arial"/>
              </a:rPr>
              <a:t>Metric</a:t>
            </a:r>
            <a:endParaRPr sz="115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45"/>
              </a:spcBef>
            </a:pPr>
            <a:r>
              <a:rPr sz="1050" b="1" spc="-60" dirty="0">
                <a:solidFill>
                  <a:srgbClr val="0E1729"/>
                </a:solidFill>
                <a:latin typeface="Arial"/>
                <a:cs typeface="Arial"/>
              </a:rPr>
              <a:t>WikiText-</a:t>
            </a:r>
            <a:r>
              <a:rPr sz="1050" b="1" spc="-30" dirty="0">
                <a:solidFill>
                  <a:srgbClr val="0E1729"/>
                </a:solidFill>
                <a:latin typeface="Arial"/>
                <a:cs typeface="Arial"/>
              </a:rPr>
              <a:t>2</a:t>
            </a:r>
            <a:r>
              <a:rPr sz="1050" b="1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65" dirty="0">
                <a:solidFill>
                  <a:srgbClr val="0E1729"/>
                </a:solidFill>
                <a:latin typeface="Arial"/>
                <a:cs typeface="Arial"/>
              </a:rPr>
              <a:t>Perplexity</a:t>
            </a:r>
            <a:r>
              <a:rPr sz="1050" b="1" spc="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measures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general</a:t>
            </a:r>
            <a:r>
              <a:rPr sz="1100" spc="-1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language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forgetting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14" dirty="0">
                <a:solidFill>
                  <a:srgbClr val="465469"/>
                </a:solidFill>
                <a:latin typeface="Arial"/>
                <a:cs typeface="Arial"/>
              </a:rPr>
              <a:t>(NOT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task-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specific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gaps)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44524" y="1996439"/>
            <a:ext cx="3212465" cy="1094105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80"/>
              </a:spcBef>
            </a:pPr>
            <a:r>
              <a:rPr sz="1150" b="1" spc="-100" dirty="0">
                <a:solidFill>
                  <a:srgbClr val="2562EB"/>
                </a:solidFill>
                <a:latin typeface="Arial"/>
                <a:cs typeface="Arial"/>
              </a:rPr>
              <a:t>What</a:t>
            </a:r>
            <a:r>
              <a:rPr sz="1150" b="1" spc="-25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80" dirty="0">
                <a:solidFill>
                  <a:srgbClr val="2562EB"/>
                </a:solidFill>
                <a:latin typeface="Arial"/>
                <a:cs typeface="Arial"/>
              </a:rPr>
              <a:t>is</a:t>
            </a:r>
            <a:r>
              <a:rPr sz="1150" b="1" spc="-25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95" dirty="0">
                <a:solidFill>
                  <a:srgbClr val="2562EB"/>
                </a:solidFill>
                <a:latin typeface="Arial"/>
                <a:cs typeface="Arial"/>
              </a:rPr>
              <a:t>Catastrophic</a:t>
            </a:r>
            <a:r>
              <a:rPr sz="1150" b="1" spc="-20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10" dirty="0">
                <a:solidFill>
                  <a:srgbClr val="2562EB"/>
                </a:solidFill>
                <a:latin typeface="Arial"/>
                <a:cs typeface="Arial"/>
              </a:rPr>
              <a:t>Forgetting?</a:t>
            </a:r>
            <a:endParaRPr sz="115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45"/>
              </a:spcBef>
            </a:pPr>
            <a:r>
              <a:rPr sz="1100" spc="-110" dirty="0">
                <a:solidFill>
                  <a:srgbClr val="465469"/>
                </a:solidFill>
                <a:latin typeface="Arial"/>
                <a:cs typeface="Arial"/>
              </a:rPr>
              <a:t>When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fine-</a:t>
            </a: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tuning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pre-</a:t>
            </a: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trained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LLMs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on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specific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tasks:</a:t>
            </a:r>
            <a:endParaRPr sz="1100" dirty="0">
              <a:latin typeface="Arial"/>
              <a:cs typeface="Arial"/>
            </a:endParaRPr>
          </a:p>
          <a:p>
            <a:pPr marL="50165">
              <a:lnSpc>
                <a:spcPct val="100000"/>
              </a:lnSpc>
              <a:spcBef>
                <a:spcPts val="280"/>
              </a:spcBef>
            </a:pPr>
            <a:r>
              <a:rPr sz="950" b="1" spc="80" dirty="0">
                <a:solidFill>
                  <a:srgbClr val="3B81F5"/>
                </a:solidFill>
                <a:latin typeface="Meiryo"/>
                <a:cs typeface="Meiryo"/>
              </a:rPr>
              <a:t>▸</a:t>
            </a:r>
            <a:r>
              <a:rPr sz="950" b="1" spc="-150" dirty="0">
                <a:solidFill>
                  <a:srgbClr val="3B81F5"/>
                </a:solidFill>
                <a:latin typeface="Meiryo"/>
                <a:cs typeface="Meiryo"/>
              </a:rPr>
              <a:t> </a:t>
            </a:r>
            <a:r>
              <a:rPr sz="1150" spc="-75" dirty="0">
                <a:solidFill>
                  <a:srgbClr val="465469"/>
                </a:solidFill>
                <a:latin typeface="Arial"/>
                <a:cs typeface="Arial"/>
              </a:rPr>
              <a:t>Task</a:t>
            </a:r>
            <a:r>
              <a:rPr sz="115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50" dirty="0">
                <a:solidFill>
                  <a:srgbClr val="465469"/>
                </a:solidFill>
                <a:latin typeface="Arial"/>
                <a:cs typeface="Arial"/>
              </a:rPr>
              <a:t>performance</a:t>
            </a:r>
            <a:r>
              <a:rPr sz="115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55" dirty="0">
                <a:solidFill>
                  <a:srgbClr val="465469"/>
                </a:solidFill>
                <a:latin typeface="Arial"/>
                <a:cs typeface="Arial"/>
              </a:rPr>
              <a:t>improves</a:t>
            </a:r>
            <a:r>
              <a:rPr sz="115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10" dirty="0">
                <a:solidFill>
                  <a:srgbClr val="465469"/>
                </a:solidFill>
                <a:latin typeface="Arial"/>
                <a:cs typeface="Arial"/>
              </a:rPr>
              <a:t>significantly</a:t>
            </a:r>
            <a:endParaRPr sz="1150" dirty="0">
              <a:latin typeface="Arial"/>
              <a:cs typeface="Arial"/>
            </a:endParaRPr>
          </a:p>
          <a:p>
            <a:pPr marL="50165">
              <a:lnSpc>
                <a:spcPct val="100000"/>
              </a:lnSpc>
              <a:spcBef>
                <a:spcPts val="345"/>
              </a:spcBef>
            </a:pPr>
            <a:r>
              <a:rPr sz="950" b="1" spc="80" dirty="0">
                <a:solidFill>
                  <a:srgbClr val="3B81F5"/>
                </a:solidFill>
                <a:latin typeface="Meiryo"/>
                <a:cs typeface="Meiryo"/>
              </a:rPr>
              <a:t>▸</a:t>
            </a:r>
            <a:r>
              <a:rPr sz="950" b="1" spc="-140" dirty="0">
                <a:solidFill>
                  <a:srgbClr val="3B81F5"/>
                </a:solidFill>
                <a:latin typeface="Meiryo"/>
                <a:cs typeface="Meiryo"/>
              </a:rPr>
              <a:t> </a:t>
            </a:r>
            <a:r>
              <a:rPr sz="1150" spc="-85" dirty="0">
                <a:solidFill>
                  <a:srgbClr val="465469"/>
                </a:solidFill>
                <a:latin typeface="Arial"/>
                <a:cs typeface="Arial"/>
              </a:rPr>
              <a:t>General</a:t>
            </a:r>
            <a:r>
              <a:rPr sz="1150" spc="-1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60" dirty="0">
                <a:solidFill>
                  <a:srgbClr val="465469"/>
                </a:solidFill>
                <a:latin typeface="Arial"/>
                <a:cs typeface="Arial"/>
              </a:rPr>
              <a:t>knowledge</a:t>
            </a:r>
            <a:r>
              <a:rPr sz="1150" spc="-1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70" dirty="0">
                <a:solidFill>
                  <a:srgbClr val="465469"/>
                </a:solidFill>
                <a:latin typeface="Arial"/>
                <a:cs typeface="Arial"/>
              </a:rPr>
              <a:t>degrades</a:t>
            </a:r>
            <a:r>
              <a:rPr sz="1150" spc="-1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50" dirty="0">
                <a:solidFill>
                  <a:srgbClr val="465469"/>
                </a:solidFill>
                <a:latin typeface="Arial"/>
                <a:cs typeface="Arial"/>
              </a:rPr>
              <a:t>(perplexity</a:t>
            </a:r>
            <a:r>
              <a:rPr sz="1150" spc="-1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25" dirty="0">
                <a:solidFill>
                  <a:srgbClr val="465469"/>
                </a:solidFill>
                <a:latin typeface="Arial"/>
                <a:cs typeface="Arial"/>
              </a:rPr>
              <a:t>increases)</a:t>
            </a:r>
            <a:endParaRPr sz="1150" dirty="0">
              <a:latin typeface="Arial"/>
              <a:cs typeface="Arial"/>
            </a:endParaRPr>
          </a:p>
          <a:p>
            <a:pPr marL="50165">
              <a:lnSpc>
                <a:spcPct val="100000"/>
              </a:lnSpc>
              <a:spcBef>
                <a:spcPts val="420"/>
              </a:spcBef>
            </a:pPr>
            <a:r>
              <a:rPr sz="950" b="1" spc="80" dirty="0">
                <a:solidFill>
                  <a:srgbClr val="3B81F5"/>
                </a:solidFill>
                <a:latin typeface="Meiryo"/>
                <a:cs typeface="Meiryo"/>
              </a:rPr>
              <a:t>▸</a:t>
            </a:r>
            <a:r>
              <a:rPr sz="950" b="1" spc="-150" dirty="0">
                <a:solidFill>
                  <a:srgbClr val="3B81F5"/>
                </a:solidFill>
                <a:latin typeface="Meiryo"/>
                <a:cs typeface="Meiryo"/>
              </a:rPr>
              <a:t> </a:t>
            </a:r>
            <a:r>
              <a:rPr sz="1150" spc="-50" dirty="0">
                <a:solidFill>
                  <a:srgbClr val="465469"/>
                </a:solidFill>
                <a:latin typeface="Arial"/>
                <a:cs typeface="Arial"/>
              </a:rPr>
              <a:t>Model</a:t>
            </a:r>
            <a:r>
              <a:rPr sz="115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45" dirty="0">
                <a:solidFill>
                  <a:srgbClr val="465469"/>
                </a:solidFill>
                <a:latin typeface="Arial"/>
                <a:cs typeface="Arial"/>
              </a:rPr>
              <a:t>"forgets"</a:t>
            </a:r>
            <a:r>
              <a:rPr sz="115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55" dirty="0">
                <a:solidFill>
                  <a:srgbClr val="465469"/>
                </a:solidFill>
                <a:latin typeface="Arial"/>
                <a:cs typeface="Arial"/>
              </a:rPr>
              <a:t>previously</a:t>
            </a:r>
            <a:r>
              <a:rPr sz="115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60" dirty="0">
                <a:solidFill>
                  <a:srgbClr val="465469"/>
                </a:solidFill>
                <a:latin typeface="Arial"/>
                <a:cs typeface="Arial"/>
              </a:rPr>
              <a:t>learned</a:t>
            </a:r>
            <a:r>
              <a:rPr sz="115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10" dirty="0">
                <a:solidFill>
                  <a:srgbClr val="465469"/>
                </a:solidFill>
                <a:latin typeface="Arial"/>
                <a:cs typeface="Arial"/>
              </a:rPr>
              <a:t>capabilities</a:t>
            </a:r>
            <a:endParaRPr sz="1150" dirty="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44524" y="3747939"/>
            <a:ext cx="2962910" cy="1085850"/>
          </a:xfrm>
          <a:prstGeom prst="rect">
            <a:avLst/>
          </a:prstGeom>
        </p:spPr>
        <p:txBody>
          <a:bodyPr vert="horz" wrap="square" lIns="0" tIns="393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0"/>
              </a:spcBef>
            </a:pPr>
            <a:r>
              <a:rPr sz="1150" b="1" spc="-105" dirty="0">
                <a:solidFill>
                  <a:srgbClr val="2562EB"/>
                </a:solidFill>
                <a:latin typeface="Arial"/>
                <a:cs typeface="Arial"/>
              </a:rPr>
              <a:t>Research</a:t>
            </a:r>
            <a:r>
              <a:rPr sz="1150" b="1" spc="-15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25" dirty="0">
                <a:solidFill>
                  <a:srgbClr val="2562EB"/>
                </a:solidFill>
                <a:latin typeface="Arial"/>
                <a:cs typeface="Arial"/>
              </a:rPr>
              <a:t>Gap</a:t>
            </a:r>
            <a:endParaRPr sz="115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1050" b="1" spc="-60" dirty="0">
                <a:solidFill>
                  <a:srgbClr val="0E1729"/>
                </a:solidFill>
                <a:latin typeface="Arial"/>
                <a:cs typeface="Arial"/>
              </a:rPr>
              <a:t>Critical</a:t>
            </a:r>
            <a:r>
              <a:rPr sz="1050" b="1" spc="-2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10" dirty="0">
                <a:solidFill>
                  <a:srgbClr val="0E1729"/>
                </a:solidFill>
                <a:latin typeface="Arial"/>
                <a:cs typeface="Arial"/>
              </a:rPr>
              <a:t>Unknowns:</a:t>
            </a:r>
            <a:endParaRPr sz="1050" dirty="0">
              <a:latin typeface="Arial"/>
              <a:cs typeface="Arial"/>
            </a:endParaRPr>
          </a:p>
          <a:p>
            <a:pPr marL="50165">
              <a:lnSpc>
                <a:spcPct val="100000"/>
              </a:lnSpc>
              <a:spcBef>
                <a:spcPts val="365"/>
              </a:spcBef>
            </a:pPr>
            <a:r>
              <a:rPr sz="950" b="1" spc="80" dirty="0">
                <a:solidFill>
                  <a:srgbClr val="3B81F5"/>
                </a:solidFill>
                <a:latin typeface="Meiryo"/>
                <a:cs typeface="Meiryo"/>
              </a:rPr>
              <a:t>▸</a:t>
            </a:r>
            <a:r>
              <a:rPr sz="950" b="1" spc="-150" dirty="0">
                <a:solidFill>
                  <a:srgbClr val="3B81F5"/>
                </a:solidFill>
                <a:latin typeface="Meiryo"/>
                <a:cs typeface="Meiryo"/>
              </a:rPr>
              <a:t> </a:t>
            </a:r>
            <a:r>
              <a:rPr sz="1150" spc="-70" dirty="0">
                <a:solidFill>
                  <a:srgbClr val="465469"/>
                </a:solidFill>
                <a:latin typeface="Arial"/>
                <a:cs typeface="Arial"/>
              </a:rPr>
              <a:t>Which</a:t>
            </a:r>
            <a:r>
              <a:rPr sz="115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125" dirty="0">
                <a:solidFill>
                  <a:srgbClr val="465469"/>
                </a:solidFill>
                <a:latin typeface="Arial"/>
                <a:cs typeface="Arial"/>
              </a:rPr>
              <a:t>PEFT</a:t>
            </a:r>
            <a:r>
              <a:rPr sz="1150" spc="-50" dirty="0">
                <a:solidFill>
                  <a:srgbClr val="465469"/>
                </a:solidFill>
                <a:latin typeface="Arial"/>
                <a:cs typeface="Arial"/>
              </a:rPr>
              <a:t> method</a:t>
            </a:r>
            <a:r>
              <a:rPr sz="115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45" dirty="0">
                <a:solidFill>
                  <a:srgbClr val="465469"/>
                </a:solidFill>
                <a:latin typeface="Arial"/>
                <a:cs typeface="Arial"/>
              </a:rPr>
              <a:t>minimizes</a:t>
            </a:r>
            <a:r>
              <a:rPr sz="115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10" dirty="0">
                <a:solidFill>
                  <a:srgbClr val="465469"/>
                </a:solidFill>
                <a:latin typeface="Arial"/>
                <a:cs typeface="Arial"/>
              </a:rPr>
              <a:t>forgetting?</a:t>
            </a:r>
            <a:endParaRPr sz="1150" dirty="0">
              <a:latin typeface="Arial"/>
              <a:cs typeface="Arial"/>
            </a:endParaRPr>
          </a:p>
          <a:p>
            <a:pPr marL="50165">
              <a:lnSpc>
                <a:spcPct val="100000"/>
              </a:lnSpc>
              <a:spcBef>
                <a:spcPts val="345"/>
              </a:spcBef>
            </a:pPr>
            <a:r>
              <a:rPr sz="950" b="1" spc="80" dirty="0">
                <a:solidFill>
                  <a:srgbClr val="3B81F5"/>
                </a:solidFill>
                <a:latin typeface="Meiryo"/>
                <a:cs typeface="Meiryo"/>
              </a:rPr>
              <a:t>▸</a:t>
            </a:r>
            <a:r>
              <a:rPr sz="950" b="1" spc="-140" dirty="0">
                <a:solidFill>
                  <a:srgbClr val="3B81F5"/>
                </a:solidFill>
                <a:latin typeface="Meiryo"/>
                <a:cs typeface="Meiryo"/>
              </a:rPr>
              <a:t> </a:t>
            </a:r>
            <a:r>
              <a:rPr sz="1150" spc="-70" dirty="0">
                <a:solidFill>
                  <a:srgbClr val="465469"/>
                </a:solidFill>
                <a:latin typeface="Arial"/>
                <a:cs typeface="Arial"/>
              </a:rPr>
              <a:t>What</a:t>
            </a:r>
            <a:r>
              <a:rPr sz="1150" spc="-1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65" dirty="0">
                <a:solidFill>
                  <a:srgbClr val="465469"/>
                </a:solidFill>
                <a:latin typeface="Arial"/>
                <a:cs typeface="Arial"/>
              </a:rPr>
              <a:t>hyperparameters</a:t>
            </a:r>
            <a:r>
              <a:rPr sz="1150" spc="-1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40" dirty="0">
                <a:solidFill>
                  <a:srgbClr val="465469"/>
                </a:solidFill>
                <a:latin typeface="Arial"/>
                <a:cs typeface="Arial"/>
              </a:rPr>
              <a:t>optimize</a:t>
            </a:r>
            <a:r>
              <a:rPr sz="1150" spc="-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10" dirty="0">
                <a:solidFill>
                  <a:srgbClr val="465469"/>
                </a:solidFill>
                <a:latin typeface="Arial"/>
                <a:cs typeface="Arial"/>
              </a:rPr>
              <a:t>retention?</a:t>
            </a:r>
            <a:endParaRPr sz="1150" dirty="0">
              <a:latin typeface="Arial"/>
              <a:cs typeface="Arial"/>
            </a:endParaRPr>
          </a:p>
          <a:p>
            <a:pPr marL="50165">
              <a:lnSpc>
                <a:spcPct val="100000"/>
              </a:lnSpc>
              <a:spcBef>
                <a:spcPts val="420"/>
              </a:spcBef>
            </a:pPr>
            <a:r>
              <a:rPr sz="950" b="1" spc="80" dirty="0">
                <a:solidFill>
                  <a:srgbClr val="3B81F5"/>
                </a:solidFill>
                <a:latin typeface="Meiryo"/>
                <a:cs typeface="Meiryo"/>
              </a:rPr>
              <a:t>▸</a:t>
            </a:r>
            <a:r>
              <a:rPr sz="950" b="1" spc="-150" dirty="0">
                <a:solidFill>
                  <a:srgbClr val="3B81F5"/>
                </a:solidFill>
                <a:latin typeface="Meiryo"/>
                <a:cs typeface="Meiryo"/>
              </a:rPr>
              <a:t> </a:t>
            </a:r>
            <a:r>
              <a:rPr sz="1150" spc="-100" dirty="0">
                <a:solidFill>
                  <a:srgbClr val="465469"/>
                </a:solidFill>
                <a:latin typeface="Arial"/>
                <a:cs typeface="Arial"/>
              </a:rPr>
              <a:t>Can</a:t>
            </a:r>
            <a:r>
              <a:rPr sz="115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30" dirty="0">
                <a:solidFill>
                  <a:srgbClr val="465469"/>
                </a:solidFill>
                <a:latin typeface="Arial"/>
                <a:cs typeface="Arial"/>
              </a:rPr>
              <a:t>mitigation</a:t>
            </a:r>
            <a:r>
              <a:rPr sz="115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45" dirty="0">
                <a:solidFill>
                  <a:srgbClr val="465469"/>
                </a:solidFill>
                <a:latin typeface="Arial"/>
                <a:cs typeface="Arial"/>
              </a:rPr>
              <a:t>strategies</a:t>
            </a:r>
            <a:r>
              <a:rPr sz="115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60" dirty="0">
                <a:solidFill>
                  <a:srgbClr val="465469"/>
                </a:solidFill>
                <a:latin typeface="Arial"/>
                <a:cs typeface="Arial"/>
              </a:rPr>
              <a:t>prevent</a:t>
            </a:r>
            <a:r>
              <a:rPr sz="115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45" dirty="0">
                <a:solidFill>
                  <a:srgbClr val="465469"/>
                </a:solidFill>
                <a:latin typeface="Arial"/>
                <a:cs typeface="Arial"/>
              </a:rPr>
              <a:t>degradation?</a:t>
            </a:r>
            <a:endParaRPr sz="1150" dirty="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6172199" y="3928624"/>
            <a:ext cx="5495925" cy="1333500"/>
            <a:chOff x="6172199" y="3476624"/>
            <a:chExt cx="5495925" cy="1333500"/>
          </a:xfrm>
        </p:grpSpPr>
        <p:pic>
          <p:nvPicPr>
            <p:cNvPr id="16" name="object 1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210299" y="3476624"/>
              <a:ext cx="5457824" cy="1333499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6172199" y="3476624"/>
              <a:ext cx="52069" cy="1333500"/>
            </a:xfrm>
            <a:custGeom>
              <a:avLst/>
              <a:gdLst/>
              <a:ahLst/>
              <a:cxnLst/>
              <a:rect l="l" t="t" r="r" b="b"/>
              <a:pathLst>
                <a:path w="52070" h="1333500">
                  <a:moveTo>
                    <a:pt x="51889" y="1333499"/>
                  </a:moveTo>
                  <a:lnTo>
                    <a:pt x="49571" y="1333499"/>
                  </a:lnTo>
                  <a:lnTo>
                    <a:pt x="42280" y="1332049"/>
                  </a:lnTo>
                  <a:lnTo>
                    <a:pt x="7249" y="1305221"/>
                  </a:lnTo>
                  <a:lnTo>
                    <a:pt x="0" y="1283928"/>
                  </a:lnTo>
                  <a:lnTo>
                    <a:pt x="0" y="49571"/>
                  </a:lnTo>
                  <a:lnTo>
                    <a:pt x="22097" y="11379"/>
                  </a:lnTo>
                  <a:lnTo>
                    <a:pt x="49571" y="0"/>
                  </a:lnTo>
                  <a:lnTo>
                    <a:pt x="51889" y="0"/>
                  </a:lnTo>
                  <a:lnTo>
                    <a:pt x="47399" y="5579"/>
                  </a:lnTo>
                  <a:lnTo>
                    <a:pt x="43679" y="16738"/>
                  </a:lnTo>
                  <a:lnTo>
                    <a:pt x="41238" y="25541"/>
                  </a:lnTo>
                  <a:lnTo>
                    <a:pt x="39494" y="35211"/>
                  </a:lnTo>
                  <a:lnTo>
                    <a:pt x="38448" y="45747"/>
                  </a:lnTo>
                  <a:lnTo>
                    <a:pt x="38100" y="57150"/>
                  </a:lnTo>
                  <a:lnTo>
                    <a:pt x="38100" y="1276350"/>
                  </a:lnTo>
                  <a:lnTo>
                    <a:pt x="43679" y="1316761"/>
                  </a:lnTo>
                  <a:lnTo>
                    <a:pt x="47399" y="1327920"/>
                  </a:lnTo>
                  <a:lnTo>
                    <a:pt x="51889" y="1333499"/>
                  </a:lnTo>
                  <a:close/>
                </a:path>
              </a:pathLst>
            </a:custGeom>
            <a:solidFill>
              <a:srgbClr val="FABE2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159499" y="1943898"/>
            <a:ext cx="2849880" cy="20383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150" b="1" spc="-105" dirty="0">
                <a:solidFill>
                  <a:srgbClr val="2562EB"/>
                </a:solidFill>
                <a:latin typeface="Arial"/>
                <a:cs typeface="Arial"/>
              </a:rPr>
              <a:t>Research</a:t>
            </a:r>
            <a:r>
              <a:rPr sz="1150" b="1" spc="-15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105" dirty="0">
                <a:solidFill>
                  <a:srgbClr val="2562EB"/>
                </a:solidFill>
                <a:latin typeface="Arial"/>
                <a:cs typeface="Arial"/>
              </a:rPr>
              <a:t>Design:</a:t>
            </a:r>
            <a:r>
              <a:rPr sz="1150" b="1" spc="-15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110" dirty="0">
                <a:solidFill>
                  <a:srgbClr val="2562EB"/>
                </a:solidFill>
                <a:latin typeface="Arial"/>
                <a:cs typeface="Arial"/>
              </a:rPr>
              <a:t>Four</a:t>
            </a:r>
            <a:r>
              <a:rPr sz="1150" b="1" spc="-10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100" dirty="0">
                <a:solidFill>
                  <a:srgbClr val="2562EB"/>
                </a:solidFill>
                <a:latin typeface="Arial"/>
                <a:cs typeface="Arial"/>
              </a:rPr>
              <a:t>Complementary</a:t>
            </a:r>
            <a:r>
              <a:rPr sz="1150" b="1" spc="-15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65" dirty="0">
                <a:solidFill>
                  <a:srgbClr val="2562EB"/>
                </a:solidFill>
                <a:latin typeface="Arial"/>
                <a:cs typeface="Arial"/>
              </a:rPr>
              <a:t>Studies</a:t>
            </a:r>
            <a:endParaRPr sz="1150" dirty="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6068567" y="2145791"/>
            <a:ext cx="2901950" cy="728980"/>
            <a:chOff x="6068567" y="2145791"/>
            <a:chExt cx="2901950" cy="728980"/>
          </a:xfrm>
        </p:grpSpPr>
        <p:sp>
          <p:nvSpPr>
            <p:cNvPr id="20" name="object 20"/>
            <p:cNvSpPr/>
            <p:nvPr/>
          </p:nvSpPr>
          <p:spPr>
            <a:xfrm>
              <a:off x="6068567" y="2145791"/>
              <a:ext cx="2901950" cy="728980"/>
            </a:xfrm>
            <a:custGeom>
              <a:avLst/>
              <a:gdLst/>
              <a:ahLst/>
              <a:cxnLst/>
              <a:rect l="l" t="t" r="r" b="b"/>
              <a:pathLst>
                <a:path w="2901950" h="728980">
                  <a:moveTo>
                    <a:pt x="2901695" y="728471"/>
                  </a:moveTo>
                  <a:lnTo>
                    <a:pt x="0" y="728471"/>
                  </a:lnTo>
                  <a:lnTo>
                    <a:pt x="0" y="0"/>
                  </a:lnTo>
                  <a:lnTo>
                    <a:pt x="2901695" y="0"/>
                  </a:lnTo>
                  <a:lnTo>
                    <a:pt x="2901695" y="83057"/>
                  </a:lnTo>
                  <a:lnTo>
                    <a:pt x="153202" y="83057"/>
                  </a:lnTo>
                  <a:lnTo>
                    <a:pt x="145912" y="84507"/>
                  </a:lnTo>
                  <a:lnTo>
                    <a:pt x="110881" y="111335"/>
                  </a:lnTo>
                  <a:lnTo>
                    <a:pt x="103631" y="132629"/>
                  </a:lnTo>
                  <a:lnTo>
                    <a:pt x="103631" y="557361"/>
                  </a:lnTo>
                  <a:lnTo>
                    <a:pt x="125728" y="595552"/>
                  </a:lnTo>
                  <a:lnTo>
                    <a:pt x="153202" y="606932"/>
                  </a:lnTo>
                  <a:lnTo>
                    <a:pt x="2901695" y="606932"/>
                  </a:lnTo>
                  <a:lnTo>
                    <a:pt x="2901695" y="728471"/>
                  </a:lnTo>
                  <a:close/>
                </a:path>
                <a:path w="2901950" h="728980">
                  <a:moveTo>
                    <a:pt x="2901695" y="606932"/>
                  </a:moveTo>
                  <a:lnTo>
                    <a:pt x="2749635" y="606932"/>
                  </a:lnTo>
                  <a:lnTo>
                    <a:pt x="2756924" y="605482"/>
                  </a:lnTo>
                  <a:lnTo>
                    <a:pt x="2770928" y="599681"/>
                  </a:lnTo>
                  <a:lnTo>
                    <a:pt x="2797755" y="564651"/>
                  </a:lnTo>
                  <a:lnTo>
                    <a:pt x="2799206" y="557361"/>
                  </a:lnTo>
                  <a:lnTo>
                    <a:pt x="2799206" y="132629"/>
                  </a:lnTo>
                  <a:lnTo>
                    <a:pt x="2777108" y="94437"/>
                  </a:lnTo>
                  <a:lnTo>
                    <a:pt x="2749635" y="83057"/>
                  </a:lnTo>
                  <a:lnTo>
                    <a:pt x="2901695" y="83057"/>
                  </a:lnTo>
                  <a:lnTo>
                    <a:pt x="2901695" y="606932"/>
                  </a:lnTo>
                  <a:close/>
                </a:path>
              </a:pathLst>
            </a:custGeom>
            <a:solidFill>
              <a:srgbClr val="60A5FA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172199" y="2228849"/>
              <a:ext cx="2695574" cy="523874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6254749" y="2306925"/>
            <a:ext cx="1442085" cy="34163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ts val="1255"/>
              </a:lnSpc>
              <a:spcBef>
                <a:spcPts val="135"/>
              </a:spcBef>
            </a:pPr>
            <a:r>
              <a:rPr sz="1050" b="1" spc="-85" dirty="0">
                <a:solidFill>
                  <a:srgbClr val="0E1729"/>
                </a:solidFill>
                <a:latin typeface="Arial"/>
                <a:cs typeface="Arial"/>
              </a:rPr>
              <a:t>Study</a:t>
            </a:r>
            <a:r>
              <a:rPr sz="1050" b="1" spc="-3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55" dirty="0">
                <a:solidFill>
                  <a:srgbClr val="0E1729"/>
                </a:solidFill>
                <a:latin typeface="Arial"/>
                <a:cs typeface="Arial"/>
              </a:rPr>
              <a:t>1:</a:t>
            </a:r>
            <a:r>
              <a:rPr sz="1050" b="1" spc="-3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75" dirty="0">
                <a:solidFill>
                  <a:srgbClr val="0E1729"/>
                </a:solidFill>
                <a:latin typeface="Arial"/>
                <a:cs typeface="Arial"/>
              </a:rPr>
              <a:t>Baseline</a:t>
            </a:r>
            <a:r>
              <a:rPr sz="1050" b="1" spc="-3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95" dirty="0">
                <a:solidFill>
                  <a:srgbClr val="0E1729"/>
                </a:solidFill>
                <a:latin typeface="Arial"/>
                <a:cs typeface="Arial"/>
              </a:rPr>
              <a:t>Bounds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195"/>
              </a:lnSpc>
            </a:pPr>
            <a:r>
              <a:rPr sz="1000" spc="-55" dirty="0">
                <a:solidFill>
                  <a:srgbClr val="1D3A8A"/>
                </a:solidFill>
                <a:latin typeface="Arial"/>
                <a:cs typeface="Arial"/>
              </a:rPr>
              <a:t>Full</a:t>
            </a:r>
            <a:r>
              <a:rPr sz="1000" spc="-40" dirty="0">
                <a:solidFill>
                  <a:srgbClr val="1D3A8A"/>
                </a:solidFill>
                <a:latin typeface="Arial"/>
                <a:cs typeface="Arial"/>
              </a:rPr>
              <a:t> </a:t>
            </a:r>
            <a:r>
              <a:rPr sz="1000" spc="-105" dirty="0">
                <a:solidFill>
                  <a:srgbClr val="1D3A8A"/>
                </a:solidFill>
                <a:latin typeface="Arial"/>
                <a:cs typeface="Arial"/>
              </a:rPr>
              <a:t>FT</a:t>
            </a:r>
            <a:r>
              <a:rPr sz="1000" spc="-60" dirty="0">
                <a:solidFill>
                  <a:srgbClr val="1D3A8A"/>
                </a:solidFill>
                <a:latin typeface="Arial"/>
                <a:cs typeface="Arial"/>
              </a:rPr>
              <a:t> </a:t>
            </a:r>
            <a:r>
              <a:rPr sz="1000" spc="-55" dirty="0">
                <a:solidFill>
                  <a:srgbClr val="1D3A8A"/>
                </a:solidFill>
                <a:latin typeface="Arial"/>
                <a:cs typeface="Arial"/>
              </a:rPr>
              <a:t>vs</a:t>
            </a:r>
            <a:r>
              <a:rPr sz="1000" spc="-40" dirty="0">
                <a:solidFill>
                  <a:srgbClr val="1D3A8A"/>
                </a:solidFill>
                <a:latin typeface="Arial"/>
                <a:cs typeface="Arial"/>
              </a:rPr>
              <a:t> </a:t>
            </a:r>
            <a:r>
              <a:rPr sz="1000" spc="-10" dirty="0">
                <a:solidFill>
                  <a:srgbClr val="1D3A8A"/>
                </a:solidFill>
                <a:latin typeface="Arial"/>
                <a:cs typeface="Arial"/>
              </a:rPr>
              <a:t>Frozen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8878823" y="2145791"/>
            <a:ext cx="2893060" cy="728980"/>
            <a:chOff x="8878823" y="2145791"/>
            <a:chExt cx="2893060" cy="728980"/>
          </a:xfrm>
        </p:grpSpPr>
        <p:sp>
          <p:nvSpPr>
            <p:cNvPr id="24" name="object 24"/>
            <p:cNvSpPr/>
            <p:nvPr/>
          </p:nvSpPr>
          <p:spPr>
            <a:xfrm>
              <a:off x="8878823" y="2145791"/>
              <a:ext cx="2893060" cy="728980"/>
            </a:xfrm>
            <a:custGeom>
              <a:avLst/>
              <a:gdLst/>
              <a:ahLst/>
              <a:cxnLst/>
              <a:rect l="l" t="t" r="r" b="b"/>
              <a:pathLst>
                <a:path w="2893059" h="728980">
                  <a:moveTo>
                    <a:pt x="2892551" y="728471"/>
                  </a:moveTo>
                  <a:lnTo>
                    <a:pt x="0" y="728471"/>
                  </a:lnTo>
                  <a:lnTo>
                    <a:pt x="0" y="0"/>
                  </a:lnTo>
                  <a:lnTo>
                    <a:pt x="2892551" y="0"/>
                  </a:lnTo>
                  <a:lnTo>
                    <a:pt x="2892551" y="83057"/>
                  </a:lnTo>
                  <a:lnTo>
                    <a:pt x="152821" y="83057"/>
                  </a:lnTo>
                  <a:lnTo>
                    <a:pt x="145532" y="84507"/>
                  </a:lnTo>
                  <a:lnTo>
                    <a:pt x="110500" y="111335"/>
                  </a:lnTo>
                  <a:lnTo>
                    <a:pt x="103250" y="132629"/>
                  </a:lnTo>
                  <a:lnTo>
                    <a:pt x="103250" y="557361"/>
                  </a:lnTo>
                  <a:lnTo>
                    <a:pt x="125347" y="595552"/>
                  </a:lnTo>
                  <a:lnTo>
                    <a:pt x="152821" y="606932"/>
                  </a:lnTo>
                  <a:lnTo>
                    <a:pt x="2892551" y="606932"/>
                  </a:lnTo>
                  <a:lnTo>
                    <a:pt x="2892551" y="728471"/>
                  </a:lnTo>
                  <a:close/>
                </a:path>
                <a:path w="2893059" h="728980">
                  <a:moveTo>
                    <a:pt x="2892551" y="606932"/>
                  </a:moveTo>
                  <a:lnTo>
                    <a:pt x="2739728" y="606932"/>
                  </a:lnTo>
                  <a:lnTo>
                    <a:pt x="2747018" y="605482"/>
                  </a:lnTo>
                  <a:lnTo>
                    <a:pt x="2761021" y="599681"/>
                  </a:lnTo>
                  <a:lnTo>
                    <a:pt x="2787849" y="564651"/>
                  </a:lnTo>
                  <a:lnTo>
                    <a:pt x="2789300" y="557361"/>
                  </a:lnTo>
                  <a:lnTo>
                    <a:pt x="2789300" y="132629"/>
                  </a:lnTo>
                  <a:lnTo>
                    <a:pt x="2767202" y="94437"/>
                  </a:lnTo>
                  <a:lnTo>
                    <a:pt x="2739728" y="83057"/>
                  </a:lnTo>
                  <a:lnTo>
                    <a:pt x="2892551" y="83057"/>
                  </a:lnTo>
                  <a:lnTo>
                    <a:pt x="2892551" y="606932"/>
                  </a:lnTo>
                  <a:close/>
                </a:path>
              </a:pathLst>
            </a:custGeom>
            <a:solidFill>
              <a:srgbClr val="60A5FA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5" name="object 25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8982073" y="2228849"/>
              <a:ext cx="2686049" cy="523874"/>
            </a:xfrm>
            <a:prstGeom prst="rect">
              <a:avLst/>
            </a:prstGeom>
          </p:spPr>
        </p:pic>
      </p:grpSp>
      <p:sp>
        <p:nvSpPr>
          <p:cNvPr id="26" name="object 26"/>
          <p:cNvSpPr txBox="1"/>
          <p:nvPr/>
        </p:nvSpPr>
        <p:spPr>
          <a:xfrm>
            <a:off x="9059862" y="2306925"/>
            <a:ext cx="1315085" cy="34163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ts val="1255"/>
              </a:lnSpc>
              <a:spcBef>
                <a:spcPts val="135"/>
              </a:spcBef>
            </a:pPr>
            <a:r>
              <a:rPr sz="1050" b="1" spc="-85" dirty="0">
                <a:solidFill>
                  <a:srgbClr val="0E1729"/>
                </a:solidFill>
                <a:latin typeface="Arial"/>
                <a:cs typeface="Arial"/>
              </a:rPr>
              <a:t>Study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55" dirty="0">
                <a:solidFill>
                  <a:srgbClr val="0E1729"/>
                </a:solidFill>
                <a:latin typeface="Arial"/>
                <a:cs typeface="Arial"/>
              </a:rPr>
              <a:t>2: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120" dirty="0">
                <a:solidFill>
                  <a:srgbClr val="0E1729"/>
                </a:solidFill>
                <a:latin typeface="Arial"/>
                <a:cs typeface="Arial"/>
              </a:rPr>
              <a:t>LoRA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75" dirty="0">
                <a:solidFill>
                  <a:srgbClr val="0E1729"/>
                </a:solidFill>
                <a:latin typeface="Arial"/>
                <a:cs typeface="Arial"/>
              </a:rPr>
              <a:t>Analysis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195"/>
              </a:lnSpc>
            </a:pPr>
            <a:r>
              <a:rPr sz="1000" spc="-90" dirty="0">
                <a:solidFill>
                  <a:srgbClr val="1D3A8A"/>
                </a:solidFill>
                <a:latin typeface="Arial"/>
                <a:cs typeface="Arial"/>
              </a:rPr>
              <a:t>Rank</a:t>
            </a:r>
            <a:r>
              <a:rPr sz="1000" spc="-35" dirty="0">
                <a:solidFill>
                  <a:srgbClr val="1D3A8A"/>
                </a:solidFill>
                <a:latin typeface="Arial"/>
                <a:cs typeface="Arial"/>
              </a:rPr>
              <a:t> </a:t>
            </a:r>
            <a:r>
              <a:rPr sz="1000" spc="-40" dirty="0">
                <a:solidFill>
                  <a:srgbClr val="1D3A8A"/>
                </a:solidFill>
                <a:latin typeface="Arial"/>
                <a:cs typeface="Arial"/>
              </a:rPr>
              <a:t>ablation</a:t>
            </a:r>
            <a:r>
              <a:rPr sz="1000" spc="-30" dirty="0">
                <a:solidFill>
                  <a:srgbClr val="1D3A8A"/>
                </a:solidFill>
                <a:latin typeface="Arial"/>
                <a:cs typeface="Arial"/>
              </a:rPr>
              <a:t> </a:t>
            </a:r>
            <a:r>
              <a:rPr sz="1000" spc="-10" dirty="0">
                <a:solidFill>
                  <a:srgbClr val="1D3A8A"/>
                </a:solidFill>
                <a:latin typeface="Arial"/>
                <a:cs typeface="Arial"/>
              </a:rPr>
              <a:t>(4,8,16)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6068567" y="2782823"/>
            <a:ext cx="2901950" cy="741045"/>
            <a:chOff x="6068567" y="2782823"/>
            <a:chExt cx="2901950" cy="741045"/>
          </a:xfrm>
        </p:grpSpPr>
        <p:sp>
          <p:nvSpPr>
            <p:cNvPr id="28" name="object 28"/>
            <p:cNvSpPr/>
            <p:nvPr/>
          </p:nvSpPr>
          <p:spPr>
            <a:xfrm>
              <a:off x="6068567" y="2782823"/>
              <a:ext cx="2901950" cy="741045"/>
            </a:xfrm>
            <a:custGeom>
              <a:avLst/>
              <a:gdLst/>
              <a:ahLst/>
              <a:cxnLst/>
              <a:rect l="l" t="t" r="r" b="b"/>
              <a:pathLst>
                <a:path w="2901950" h="741045">
                  <a:moveTo>
                    <a:pt x="2901695" y="740663"/>
                  </a:moveTo>
                  <a:lnTo>
                    <a:pt x="0" y="740663"/>
                  </a:lnTo>
                  <a:lnTo>
                    <a:pt x="0" y="0"/>
                  </a:lnTo>
                  <a:lnTo>
                    <a:pt x="2901695" y="0"/>
                  </a:lnTo>
                  <a:lnTo>
                    <a:pt x="2901695" y="84200"/>
                  </a:lnTo>
                  <a:lnTo>
                    <a:pt x="153202" y="84200"/>
                  </a:lnTo>
                  <a:lnTo>
                    <a:pt x="145912" y="85650"/>
                  </a:lnTo>
                  <a:lnTo>
                    <a:pt x="110881" y="112478"/>
                  </a:lnTo>
                  <a:lnTo>
                    <a:pt x="103631" y="133772"/>
                  </a:lnTo>
                  <a:lnTo>
                    <a:pt x="103631" y="568029"/>
                  </a:lnTo>
                  <a:lnTo>
                    <a:pt x="125728" y="606220"/>
                  </a:lnTo>
                  <a:lnTo>
                    <a:pt x="153202" y="617600"/>
                  </a:lnTo>
                  <a:lnTo>
                    <a:pt x="2901695" y="617600"/>
                  </a:lnTo>
                  <a:lnTo>
                    <a:pt x="2901695" y="740663"/>
                  </a:lnTo>
                  <a:close/>
                </a:path>
                <a:path w="2901950" h="741045">
                  <a:moveTo>
                    <a:pt x="2901695" y="617600"/>
                  </a:moveTo>
                  <a:lnTo>
                    <a:pt x="2749635" y="617600"/>
                  </a:lnTo>
                  <a:lnTo>
                    <a:pt x="2756924" y="616150"/>
                  </a:lnTo>
                  <a:lnTo>
                    <a:pt x="2770928" y="610349"/>
                  </a:lnTo>
                  <a:lnTo>
                    <a:pt x="2797755" y="575319"/>
                  </a:lnTo>
                  <a:lnTo>
                    <a:pt x="2799206" y="568029"/>
                  </a:lnTo>
                  <a:lnTo>
                    <a:pt x="2799206" y="133772"/>
                  </a:lnTo>
                  <a:lnTo>
                    <a:pt x="2777108" y="95580"/>
                  </a:lnTo>
                  <a:lnTo>
                    <a:pt x="2749635" y="84200"/>
                  </a:lnTo>
                  <a:lnTo>
                    <a:pt x="2901695" y="84200"/>
                  </a:lnTo>
                  <a:lnTo>
                    <a:pt x="2901695" y="617600"/>
                  </a:lnTo>
                  <a:close/>
                </a:path>
              </a:pathLst>
            </a:custGeom>
            <a:solidFill>
              <a:srgbClr val="60A5FA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9" name="object 2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172199" y="2867024"/>
              <a:ext cx="2695574" cy="533399"/>
            </a:xfrm>
            <a:prstGeom prst="rect">
              <a:avLst/>
            </a:prstGeom>
          </p:spPr>
        </p:pic>
      </p:grpSp>
      <p:sp>
        <p:nvSpPr>
          <p:cNvPr id="30" name="object 30"/>
          <p:cNvSpPr txBox="1"/>
          <p:nvPr/>
        </p:nvSpPr>
        <p:spPr>
          <a:xfrm>
            <a:off x="6254749" y="2945100"/>
            <a:ext cx="1351280" cy="3511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050" b="1" spc="-85" dirty="0">
                <a:solidFill>
                  <a:srgbClr val="0E1729"/>
                </a:solidFill>
                <a:latin typeface="Arial"/>
                <a:cs typeface="Arial"/>
              </a:rPr>
              <a:t>Study</a:t>
            </a:r>
            <a:r>
              <a:rPr sz="1050" b="1" spc="-3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55" dirty="0">
                <a:solidFill>
                  <a:srgbClr val="0E1729"/>
                </a:solidFill>
                <a:latin typeface="Arial"/>
                <a:cs typeface="Arial"/>
              </a:rPr>
              <a:t>3:</a:t>
            </a:r>
            <a:r>
              <a:rPr sz="1050" b="1" spc="-3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60" dirty="0">
                <a:solidFill>
                  <a:srgbClr val="0E1729"/>
                </a:solidFill>
                <a:latin typeface="Arial"/>
                <a:cs typeface="Arial"/>
              </a:rPr>
              <a:t>Prefix</a:t>
            </a:r>
            <a:r>
              <a:rPr sz="1050" b="1" spc="-3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70" dirty="0">
                <a:solidFill>
                  <a:srgbClr val="0E1729"/>
                </a:solidFill>
                <a:latin typeface="Arial"/>
                <a:cs typeface="Arial"/>
              </a:rPr>
              <a:t>Analysis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1000" spc="-60" dirty="0">
                <a:solidFill>
                  <a:srgbClr val="1D3A8A"/>
                </a:solidFill>
                <a:latin typeface="Arial"/>
                <a:cs typeface="Arial"/>
              </a:rPr>
              <a:t>Length</a:t>
            </a:r>
            <a:r>
              <a:rPr sz="1000" spc="-20" dirty="0">
                <a:solidFill>
                  <a:srgbClr val="1D3A8A"/>
                </a:solidFill>
                <a:latin typeface="Arial"/>
                <a:cs typeface="Arial"/>
              </a:rPr>
              <a:t> </a:t>
            </a:r>
            <a:r>
              <a:rPr sz="1000" spc="-40" dirty="0">
                <a:solidFill>
                  <a:srgbClr val="1D3A8A"/>
                </a:solidFill>
                <a:latin typeface="Arial"/>
                <a:cs typeface="Arial"/>
              </a:rPr>
              <a:t>ablation</a:t>
            </a:r>
            <a:r>
              <a:rPr sz="1000" spc="-15" dirty="0">
                <a:solidFill>
                  <a:srgbClr val="1D3A8A"/>
                </a:solidFill>
                <a:latin typeface="Arial"/>
                <a:cs typeface="Arial"/>
              </a:rPr>
              <a:t> </a:t>
            </a:r>
            <a:r>
              <a:rPr sz="1000" spc="-45" dirty="0">
                <a:solidFill>
                  <a:srgbClr val="1D3A8A"/>
                </a:solidFill>
                <a:latin typeface="Arial"/>
                <a:cs typeface="Arial"/>
              </a:rPr>
              <a:t>(10,20,50)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8878823" y="2782823"/>
            <a:ext cx="2893060" cy="741045"/>
            <a:chOff x="8878823" y="2782823"/>
            <a:chExt cx="2893060" cy="741045"/>
          </a:xfrm>
        </p:grpSpPr>
        <p:sp>
          <p:nvSpPr>
            <p:cNvPr id="32" name="object 32"/>
            <p:cNvSpPr/>
            <p:nvPr/>
          </p:nvSpPr>
          <p:spPr>
            <a:xfrm>
              <a:off x="8878823" y="2782823"/>
              <a:ext cx="2893060" cy="741045"/>
            </a:xfrm>
            <a:custGeom>
              <a:avLst/>
              <a:gdLst/>
              <a:ahLst/>
              <a:cxnLst/>
              <a:rect l="l" t="t" r="r" b="b"/>
              <a:pathLst>
                <a:path w="2893059" h="741045">
                  <a:moveTo>
                    <a:pt x="2892551" y="740663"/>
                  </a:moveTo>
                  <a:lnTo>
                    <a:pt x="0" y="740663"/>
                  </a:lnTo>
                  <a:lnTo>
                    <a:pt x="0" y="0"/>
                  </a:lnTo>
                  <a:lnTo>
                    <a:pt x="2892551" y="0"/>
                  </a:lnTo>
                  <a:lnTo>
                    <a:pt x="2892551" y="84200"/>
                  </a:lnTo>
                  <a:lnTo>
                    <a:pt x="152821" y="84200"/>
                  </a:lnTo>
                  <a:lnTo>
                    <a:pt x="145532" y="85650"/>
                  </a:lnTo>
                  <a:lnTo>
                    <a:pt x="110500" y="112478"/>
                  </a:lnTo>
                  <a:lnTo>
                    <a:pt x="103250" y="133772"/>
                  </a:lnTo>
                  <a:lnTo>
                    <a:pt x="103250" y="568029"/>
                  </a:lnTo>
                  <a:lnTo>
                    <a:pt x="125347" y="606220"/>
                  </a:lnTo>
                  <a:lnTo>
                    <a:pt x="152821" y="617600"/>
                  </a:lnTo>
                  <a:lnTo>
                    <a:pt x="2892551" y="617600"/>
                  </a:lnTo>
                  <a:lnTo>
                    <a:pt x="2892551" y="740663"/>
                  </a:lnTo>
                  <a:close/>
                </a:path>
                <a:path w="2893059" h="741045">
                  <a:moveTo>
                    <a:pt x="2892551" y="617600"/>
                  </a:moveTo>
                  <a:lnTo>
                    <a:pt x="2739728" y="617600"/>
                  </a:lnTo>
                  <a:lnTo>
                    <a:pt x="2747018" y="616150"/>
                  </a:lnTo>
                  <a:lnTo>
                    <a:pt x="2761021" y="610349"/>
                  </a:lnTo>
                  <a:lnTo>
                    <a:pt x="2787849" y="575319"/>
                  </a:lnTo>
                  <a:lnTo>
                    <a:pt x="2789300" y="568029"/>
                  </a:lnTo>
                  <a:lnTo>
                    <a:pt x="2789300" y="133772"/>
                  </a:lnTo>
                  <a:lnTo>
                    <a:pt x="2767202" y="95580"/>
                  </a:lnTo>
                  <a:lnTo>
                    <a:pt x="2739728" y="84200"/>
                  </a:lnTo>
                  <a:lnTo>
                    <a:pt x="2892551" y="84200"/>
                  </a:lnTo>
                  <a:lnTo>
                    <a:pt x="2892551" y="617600"/>
                  </a:lnTo>
                  <a:close/>
                </a:path>
              </a:pathLst>
            </a:custGeom>
            <a:solidFill>
              <a:srgbClr val="60A5FA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8982073" y="2867024"/>
              <a:ext cx="2686049" cy="533399"/>
            </a:xfrm>
            <a:prstGeom prst="rect">
              <a:avLst/>
            </a:prstGeom>
          </p:spPr>
        </p:pic>
      </p:grpSp>
      <p:sp>
        <p:nvSpPr>
          <p:cNvPr id="34" name="object 34"/>
          <p:cNvSpPr txBox="1"/>
          <p:nvPr/>
        </p:nvSpPr>
        <p:spPr>
          <a:xfrm>
            <a:off x="9059862" y="2945100"/>
            <a:ext cx="1670050" cy="3511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050" b="1" spc="-85" dirty="0">
                <a:solidFill>
                  <a:srgbClr val="0E1729"/>
                </a:solidFill>
                <a:latin typeface="Arial"/>
                <a:cs typeface="Arial"/>
              </a:rPr>
              <a:t>Study</a:t>
            </a:r>
            <a:r>
              <a:rPr sz="1050" b="1" spc="-3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55" dirty="0">
                <a:solidFill>
                  <a:srgbClr val="0E1729"/>
                </a:solidFill>
                <a:latin typeface="Arial"/>
                <a:cs typeface="Arial"/>
              </a:rPr>
              <a:t>4:</a:t>
            </a:r>
            <a:r>
              <a:rPr sz="1050" b="1" spc="-3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85" dirty="0">
                <a:solidFill>
                  <a:srgbClr val="0E1729"/>
                </a:solidFill>
                <a:latin typeface="Arial"/>
                <a:cs typeface="Arial"/>
              </a:rPr>
              <a:t>Replay</a:t>
            </a:r>
            <a:r>
              <a:rPr sz="1050" b="1" spc="-3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10" dirty="0">
                <a:solidFill>
                  <a:srgbClr val="0E1729"/>
                </a:solidFill>
                <a:latin typeface="Arial"/>
                <a:cs typeface="Arial"/>
              </a:rPr>
              <a:t>Mitigation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1000" spc="-60" dirty="0">
                <a:solidFill>
                  <a:srgbClr val="1D3A8A"/>
                </a:solidFill>
                <a:latin typeface="Arial"/>
                <a:cs typeface="Arial"/>
              </a:rPr>
              <a:t>Memory</a:t>
            </a:r>
            <a:r>
              <a:rPr sz="1000" spc="-10" dirty="0">
                <a:solidFill>
                  <a:srgbClr val="1D3A8A"/>
                </a:solidFill>
                <a:latin typeface="Arial"/>
                <a:cs typeface="Arial"/>
              </a:rPr>
              <a:t> </a:t>
            </a:r>
            <a:r>
              <a:rPr sz="1000" spc="-60" dirty="0">
                <a:solidFill>
                  <a:srgbClr val="1D3A8A"/>
                </a:solidFill>
                <a:latin typeface="Arial"/>
                <a:cs typeface="Arial"/>
              </a:rPr>
              <a:t>rehearsal</a:t>
            </a:r>
            <a:r>
              <a:rPr sz="1000" spc="-5" dirty="0">
                <a:solidFill>
                  <a:srgbClr val="1D3A8A"/>
                </a:solidFill>
                <a:latin typeface="Arial"/>
                <a:cs typeface="Arial"/>
              </a:rPr>
              <a:t> </a:t>
            </a:r>
            <a:r>
              <a:rPr sz="1000" spc="-95" dirty="0">
                <a:solidFill>
                  <a:srgbClr val="1D3A8A"/>
                </a:solidFill>
                <a:latin typeface="Arial"/>
                <a:cs typeface="Arial"/>
              </a:rPr>
              <a:t>(0%,10%,20%)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6328941" y="3992244"/>
            <a:ext cx="2339340" cy="1118870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0"/>
              </a:spcBef>
            </a:pPr>
            <a:r>
              <a:rPr sz="1050" b="1" spc="-10" dirty="0">
                <a:solidFill>
                  <a:srgbClr val="0E1729"/>
                </a:solidFill>
                <a:latin typeface="Arial"/>
                <a:cs typeface="Arial"/>
              </a:rPr>
              <a:t>Contributions:</a:t>
            </a:r>
            <a:endParaRPr sz="1050" dirty="0">
              <a:latin typeface="Arial"/>
              <a:cs typeface="Arial"/>
            </a:endParaRPr>
          </a:p>
          <a:p>
            <a:pPr marL="50165">
              <a:lnSpc>
                <a:spcPct val="100000"/>
              </a:lnSpc>
              <a:spcBef>
                <a:spcPts val="365"/>
              </a:spcBef>
            </a:pPr>
            <a:r>
              <a:rPr sz="950" b="1" spc="80" dirty="0">
                <a:solidFill>
                  <a:srgbClr val="3B81F5"/>
                </a:solidFill>
                <a:latin typeface="Meiryo"/>
                <a:cs typeface="Meiryo"/>
              </a:rPr>
              <a:t>▸</a:t>
            </a:r>
            <a:r>
              <a:rPr sz="950" b="1" spc="-155" dirty="0">
                <a:solidFill>
                  <a:srgbClr val="3B81F5"/>
                </a:solidFill>
                <a:latin typeface="Meiryo"/>
                <a:cs typeface="Meiryo"/>
              </a:rPr>
              <a:t> </a:t>
            </a:r>
            <a:r>
              <a:rPr sz="1150" spc="-35" dirty="0">
                <a:solidFill>
                  <a:srgbClr val="465469"/>
                </a:solidFill>
                <a:latin typeface="Arial"/>
                <a:cs typeface="Arial"/>
              </a:rPr>
              <a:t>First</a:t>
            </a:r>
            <a:r>
              <a:rPr sz="115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45" dirty="0">
                <a:solidFill>
                  <a:srgbClr val="465469"/>
                </a:solidFill>
                <a:latin typeface="Arial"/>
                <a:cs typeface="Arial"/>
              </a:rPr>
              <a:t>unified</a:t>
            </a:r>
            <a:r>
              <a:rPr sz="115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125" dirty="0">
                <a:solidFill>
                  <a:srgbClr val="465469"/>
                </a:solidFill>
                <a:latin typeface="Arial"/>
                <a:cs typeface="Arial"/>
              </a:rPr>
              <a:t>PEFT</a:t>
            </a:r>
            <a:r>
              <a:rPr sz="1150" spc="-6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10" dirty="0">
                <a:solidFill>
                  <a:srgbClr val="465469"/>
                </a:solidFill>
                <a:latin typeface="Arial"/>
                <a:cs typeface="Arial"/>
              </a:rPr>
              <a:t>comparison</a:t>
            </a:r>
            <a:endParaRPr sz="1150" dirty="0">
              <a:latin typeface="Arial"/>
              <a:cs typeface="Arial"/>
            </a:endParaRPr>
          </a:p>
          <a:p>
            <a:pPr marL="50165">
              <a:lnSpc>
                <a:spcPct val="100000"/>
              </a:lnSpc>
              <a:spcBef>
                <a:spcPts val="345"/>
              </a:spcBef>
            </a:pPr>
            <a:r>
              <a:rPr sz="950" b="1" spc="80" dirty="0">
                <a:solidFill>
                  <a:srgbClr val="3B81F5"/>
                </a:solidFill>
                <a:latin typeface="Meiryo"/>
                <a:cs typeface="Meiryo"/>
              </a:rPr>
              <a:t>▸</a:t>
            </a:r>
            <a:r>
              <a:rPr sz="950" b="1" spc="-135" dirty="0">
                <a:solidFill>
                  <a:srgbClr val="3B81F5"/>
                </a:solidFill>
                <a:latin typeface="Meiryo"/>
                <a:cs typeface="Meiryo"/>
              </a:rPr>
              <a:t> </a:t>
            </a:r>
            <a:r>
              <a:rPr sz="1150" spc="-50" dirty="0">
                <a:solidFill>
                  <a:srgbClr val="465469"/>
                </a:solidFill>
                <a:latin typeface="Arial"/>
                <a:cs typeface="Arial"/>
              </a:rPr>
              <a:t>Systematic</a:t>
            </a:r>
            <a:r>
              <a:rPr sz="1150" spc="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65" dirty="0">
                <a:solidFill>
                  <a:srgbClr val="465469"/>
                </a:solidFill>
                <a:latin typeface="Arial"/>
                <a:cs typeface="Arial"/>
              </a:rPr>
              <a:t>hyperparameter</a:t>
            </a:r>
            <a:r>
              <a:rPr sz="115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20" dirty="0">
                <a:solidFill>
                  <a:srgbClr val="465469"/>
                </a:solidFill>
                <a:latin typeface="Arial"/>
                <a:cs typeface="Arial"/>
              </a:rPr>
              <a:t>ablation</a:t>
            </a:r>
            <a:endParaRPr sz="1150" dirty="0">
              <a:latin typeface="Arial"/>
              <a:cs typeface="Arial"/>
            </a:endParaRPr>
          </a:p>
          <a:p>
            <a:pPr marL="50165">
              <a:lnSpc>
                <a:spcPct val="100000"/>
              </a:lnSpc>
              <a:spcBef>
                <a:spcPts val="420"/>
              </a:spcBef>
            </a:pPr>
            <a:r>
              <a:rPr sz="950" b="1" spc="80" dirty="0">
                <a:solidFill>
                  <a:srgbClr val="3B81F5"/>
                </a:solidFill>
                <a:latin typeface="Meiryo"/>
                <a:cs typeface="Meiryo"/>
              </a:rPr>
              <a:t>▸</a:t>
            </a:r>
            <a:r>
              <a:rPr sz="950" b="1" spc="-150" dirty="0">
                <a:solidFill>
                  <a:srgbClr val="3B81F5"/>
                </a:solidFill>
                <a:latin typeface="Meiryo"/>
                <a:cs typeface="Meiryo"/>
              </a:rPr>
              <a:t> </a:t>
            </a:r>
            <a:r>
              <a:rPr sz="1150" spc="-45" dirty="0">
                <a:solidFill>
                  <a:srgbClr val="465469"/>
                </a:solidFill>
                <a:latin typeface="Arial"/>
                <a:cs typeface="Arial"/>
              </a:rPr>
              <a:t>Active</a:t>
            </a:r>
            <a:r>
              <a:rPr sz="115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30" dirty="0">
                <a:solidFill>
                  <a:srgbClr val="465469"/>
                </a:solidFill>
                <a:latin typeface="Arial"/>
                <a:cs typeface="Arial"/>
              </a:rPr>
              <a:t>mitigation</a:t>
            </a:r>
            <a:r>
              <a:rPr sz="115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30" dirty="0">
                <a:solidFill>
                  <a:srgbClr val="465469"/>
                </a:solidFill>
                <a:latin typeface="Arial"/>
                <a:cs typeface="Arial"/>
              </a:rPr>
              <a:t>testing </a:t>
            </a:r>
            <a:r>
              <a:rPr sz="1150" spc="-10" dirty="0">
                <a:solidFill>
                  <a:srgbClr val="465469"/>
                </a:solidFill>
                <a:latin typeface="Arial"/>
                <a:cs typeface="Arial"/>
              </a:rPr>
              <a:t>(replay)</a:t>
            </a:r>
            <a:endParaRPr sz="1150" dirty="0">
              <a:latin typeface="Arial"/>
              <a:cs typeface="Arial"/>
            </a:endParaRPr>
          </a:p>
          <a:p>
            <a:pPr marL="50165">
              <a:lnSpc>
                <a:spcPct val="100000"/>
              </a:lnSpc>
              <a:spcBef>
                <a:spcPts val="345"/>
              </a:spcBef>
            </a:pPr>
            <a:r>
              <a:rPr sz="950" b="1" spc="80" dirty="0">
                <a:solidFill>
                  <a:srgbClr val="3B81F5"/>
                </a:solidFill>
                <a:latin typeface="Meiryo"/>
                <a:cs typeface="Meiryo"/>
              </a:rPr>
              <a:t>▸</a:t>
            </a:r>
            <a:r>
              <a:rPr sz="950" b="1" spc="-135" dirty="0">
                <a:solidFill>
                  <a:srgbClr val="3B81F5"/>
                </a:solidFill>
                <a:latin typeface="Meiryo"/>
                <a:cs typeface="Meiryo"/>
              </a:rPr>
              <a:t> </a:t>
            </a:r>
            <a:r>
              <a:rPr sz="1150" spc="-75" dirty="0">
                <a:solidFill>
                  <a:srgbClr val="465469"/>
                </a:solidFill>
                <a:latin typeface="Arial"/>
                <a:cs typeface="Arial"/>
              </a:rPr>
              <a:t>Cross-</a:t>
            </a:r>
            <a:r>
              <a:rPr sz="1150" spc="-35" dirty="0">
                <a:solidFill>
                  <a:srgbClr val="465469"/>
                </a:solidFill>
                <a:latin typeface="Arial"/>
                <a:cs typeface="Arial"/>
              </a:rPr>
              <a:t>task</a:t>
            </a:r>
            <a:r>
              <a:rPr sz="1150" spc="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55" dirty="0">
                <a:solidFill>
                  <a:srgbClr val="465469"/>
                </a:solidFill>
                <a:latin typeface="Arial"/>
                <a:cs typeface="Arial"/>
              </a:rPr>
              <a:t>generalization</a:t>
            </a:r>
            <a:r>
              <a:rPr sz="1150" spc="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10" dirty="0">
                <a:solidFill>
                  <a:srgbClr val="465469"/>
                </a:solidFill>
                <a:latin typeface="Arial"/>
                <a:cs typeface="Arial"/>
              </a:rPr>
              <a:t>validation</a:t>
            </a:r>
            <a:endParaRPr sz="115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23874" y="971549"/>
            <a:ext cx="11144250" cy="28575"/>
          </a:xfrm>
          <a:custGeom>
            <a:avLst/>
            <a:gdLst/>
            <a:ahLst/>
            <a:cxnLst/>
            <a:rect l="l" t="t" r="r" b="b"/>
            <a:pathLst>
              <a:path w="11144250" h="28575">
                <a:moveTo>
                  <a:pt x="11144249" y="28574"/>
                </a:moveTo>
                <a:lnTo>
                  <a:pt x="0" y="28574"/>
                </a:lnTo>
                <a:lnTo>
                  <a:pt x="0" y="0"/>
                </a:lnTo>
                <a:lnTo>
                  <a:pt x="11144249" y="0"/>
                </a:lnTo>
                <a:lnTo>
                  <a:pt x="11144249" y="28574"/>
                </a:lnTo>
                <a:close/>
              </a:path>
            </a:pathLst>
          </a:custGeom>
          <a:solidFill>
            <a:srgbClr val="3B81F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11175" y="532327"/>
            <a:ext cx="7303134" cy="41211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pc="-190" dirty="0"/>
              <a:t>Adapters</a:t>
            </a:r>
            <a:r>
              <a:rPr spc="-160" dirty="0"/>
              <a:t> </a:t>
            </a:r>
            <a:r>
              <a:rPr spc="-55" dirty="0"/>
              <a:t>with</a:t>
            </a:r>
            <a:r>
              <a:rPr spc="-160" dirty="0"/>
              <a:t> </a:t>
            </a:r>
            <a:r>
              <a:rPr spc="-175" dirty="0"/>
              <a:t>Replay</a:t>
            </a:r>
            <a:r>
              <a:rPr spc="-160" dirty="0"/>
              <a:t> </a:t>
            </a:r>
            <a:r>
              <a:rPr spc="-120" dirty="0"/>
              <a:t>Mitigation:</a:t>
            </a:r>
            <a:r>
              <a:rPr spc="-160" dirty="0"/>
              <a:t> </a:t>
            </a:r>
            <a:r>
              <a:rPr spc="-140" dirty="0"/>
              <a:t>Experimental</a:t>
            </a:r>
            <a:r>
              <a:rPr spc="-155" dirty="0"/>
              <a:t> </a:t>
            </a:r>
            <a:r>
              <a:rPr spc="-145" dirty="0"/>
              <a:t>Results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469391" y="1716023"/>
            <a:ext cx="5605780" cy="1301750"/>
            <a:chOff x="469391" y="1716023"/>
            <a:chExt cx="5605780" cy="1301750"/>
          </a:xfrm>
        </p:grpSpPr>
        <p:sp>
          <p:nvSpPr>
            <p:cNvPr id="5" name="object 5"/>
            <p:cNvSpPr/>
            <p:nvPr/>
          </p:nvSpPr>
          <p:spPr>
            <a:xfrm>
              <a:off x="469391" y="1716023"/>
              <a:ext cx="5605780" cy="1301750"/>
            </a:xfrm>
            <a:custGeom>
              <a:avLst/>
              <a:gdLst/>
              <a:ahLst/>
              <a:cxnLst/>
              <a:rect l="l" t="t" r="r" b="b"/>
              <a:pathLst>
                <a:path w="5605780" h="1301750">
                  <a:moveTo>
                    <a:pt x="5605271" y="1301495"/>
                  </a:moveTo>
                  <a:lnTo>
                    <a:pt x="0" y="1301495"/>
                  </a:lnTo>
                  <a:lnTo>
                    <a:pt x="0" y="0"/>
                  </a:lnTo>
                  <a:lnTo>
                    <a:pt x="5605271" y="0"/>
                  </a:lnTo>
                  <a:lnTo>
                    <a:pt x="5605271" y="46100"/>
                  </a:lnTo>
                  <a:lnTo>
                    <a:pt x="111632" y="46100"/>
                  </a:lnTo>
                  <a:lnTo>
                    <a:pt x="102130" y="46972"/>
                  </a:lnTo>
                  <a:lnTo>
                    <a:pt x="67495" y="75443"/>
                  </a:lnTo>
                  <a:lnTo>
                    <a:pt x="64007" y="93725"/>
                  </a:lnTo>
                  <a:lnTo>
                    <a:pt x="64007" y="1170050"/>
                  </a:lnTo>
                  <a:lnTo>
                    <a:pt x="85292" y="1209829"/>
                  </a:lnTo>
                  <a:lnTo>
                    <a:pt x="111632" y="1217675"/>
                  </a:lnTo>
                  <a:lnTo>
                    <a:pt x="5605271" y="1217675"/>
                  </a:lnTo>
                  <a:lnTo>
                    <a:pt x="5605271" y="1301495"/>
                  </a:lnTo>
                  <a:close/>
                </a:path>
                <a:path w="5605780" h="1301750">
                  <a:moveTo>
                    <a:pt x="5605271" y="1217675"/>
                  </a:moveTo>
                  <a:lnTo>
                    <a:pt x="5493257" y="1217675"/>
                  </a:lnTo>
                  <a:lnTo>
                    <a:pt x="5502759" y="1216804"/>
                  </a:lnTo>
                  <a:lnTo>
                    <a:pt x="5511539" y="1214188"/>
                  </a:lnTo>
                  <a:lnTo>
                    <a:pt x="5540010" y="1179553"/>
                  </a:lnTo>
                  <a:lnTo>
                    <a:pt x="5540882" y="1170050"/>
                  </a:lnTo>
                  <a:lnTo>
                    <a:pt x="5540882" y="93725"/>
                  </a:lnTo>
                  <a:lnTo>
                    <a:pt x="5519597" y="53947"/>
                  </a:lnTo>
                  <a:lnTo>
                    <a:pt x="5493257" y="46100"/>
                  </a:lnTo>
                  <a:lnTo>
                    <a:pt x="5605271" y="46100"/>
                  </a:lnTo>
                  <a:lnTo>
                    <a:pt x="5605271" y="1217675"/>
                  </a:lnTo>
                  <a:close/>
                </a:path>
              </a:pathLst>
            </a:custGeom>
            <a:solidFill>
              <a:srgbClr val="000000">
                <a:alpha val="783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23874" y="1752599"/>
              <a:ext cx="5495925" cy="1190625"/>
            </a:xfrm>
            <a:custGeom>
              <a:avLst/>
              <a:gdLst/>
              <a:ahLst/>
              <a:cxnLst/>
              <a:rect l="l" t="t" r="r" b="b"/>
              <a:pathLst>
                <a:path w="5495925" h="1190625">
                  <a:moveTo>
                    <a:pt x="5442527" y="1190624"/>
                  </a:moveTo>
                  <a:lnTo>
                    <a:pt x="53397" y="1190624"/>
                  </a:lnTo>
                  <a:lnTo>
                    <a:pt x="49681" y="1190258"/>
                  </a:lnTo>
                  <a:lnTo>
                    <a:pt x="14085" y="1171232"/>
                  </a:lnTo>
                  <a:lnTo>
                    <a:pt x="0" y="1137227"/>
                  </a:lnTo>
                  <a:lnTo>
                    <a:pt x="0" y="1133474"/>
                  </a:lnTo>
                  <a:lnTo>
                    <a:pt x="0" y="53397"/>
                  </a:lnTo>
                  <a:lnTo>
                    <a:pt x="19392" y="14085"/>
                  </a:lnTo>
                  <a:lnTo>
                    <a:pt x="53397" y="0"/>
                  </a:lnTo>
                  <a:lnTo>
                    <a:pt x="5442527" y="0"/>
                  </a:lnTo>
                  <a:lnTo>
                    <a:pt x="5481838" y="19392"/>
                  </a:lnTo>
                  <a:lnTo>
                    <a:pt x="5495924" y="53397"/>
                  </a:lnTo>
                  <a:lnTo>
                    <a:pt x="5495924" y="1137227"/>
                  </a:lnTo>
                  <a:lnTo>
                    <a:pt x="5476532" y="1176539"/>
                  </a:lnTo>
                  <a:lnTo>
                    <a:pt x="5446243" y="1190258"/>
                  </a:lnTo>
                  <a:lnTo>
                    <a:pt x="5442527" y="11906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3399" y="1752599"/>
              <a:ext cx="3076574" cy="24764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33387" y="2000249"/>
              <a:ext cx="3076575" cy="695325"/>
            </a:xfrm>
            <a:custGeom>
              <a:avLst/>
              <a:gdLst/>
              <a:ahLst/>
              <a:cxnLst/>
              <a:rect l="l" t="t" r="r" b="b"/>
              <a:pathLst>
                <a:path w="3076575" h="695325">
                  <a:moveTo>
                    <a:pt x="3076575" y="0"/>
                  </a:moveTo>
                  <a:lnTo>
                    <a:pt x="1952625" y="0"/>
                  </a:lnTo>
                  <a:lnTo>
                    <a:pt x="1323975" y="0"/>
                  </a:lnTo>
                  <a:lnTo>
                    <a:pt x="514350" y="0"/>
                  </a:lnTo>
                  <a:lnTo>
                    <a:pt x="0" y="0"/>
                  </a:lnTo>
                  <a:lnTo>
                    <a:pt x="0" y="228600"/>
                  </a:lnTo>
                  <a:lnTo>
                    <a:pt x="0" y="466725"/>
                  </a:lnTo>
                  <a:lnTo>
                    <a:pt x="0" y="695325"/>
                  </a:lnTo>
                  <a:lnTo>
                    <a:pt x="514350" y="695325"/>
                  </a:lnTo>
                  <a:lnTo>
                    <a:pt x="1323975" y="695325"/>
                  </a:lnTo>
                  <a:lnTo>
                    <a:pt x="1952625" y="695325"/>
                  </a:lnTo>
                  <a:lnTo>
                    <a:pt x="3076575" y="695325"/>
                  </a:lnTo>
                  <a:lnTo>
                    <a:pt x="3076575" y="466725"/>
                  </a:lnTo>
                  <a:lnTo>
                    <a:pt x="3076575" y="228600"/>
                  </a:lnTo>
                  <a:lnTo>
                    <a:pt x="307657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33399" y="2695574"/>
              <a:ext cx="514350" cy="247650"/>
            </a:xfrm>
            <a:custGeom>
              <a:avLst/>
              <a:gdLst/>
              <a:ahLst/>
              <a:cxnLst/>
              <a:rect l="l" t="t" r="r" b="b"/>
              <a:pathLst>
                <a:path w="514350" h="247650">
                  <a:moveTo>
                    <a:pt x="514349" y="247649"/>
                  </a:moveTo>
                  <a:lnTo>
                    <a:pt x="40046" y="247649"/>
                  </a:lnTo>
                  <a:lnTo>
                    <a:pt x="32756" y="246199"/>
                  </a:lnTo>
                  <a:lnTo>
                    <a:pt x="18752" y="240399"/>
                  </a:lnTo>
                  <a:lnTo>
                    <a:pt x="12572" y="236270"/>
                  </a:lnTo>
                  <a:lnTo>
                    <a:pt x="1854" y="225552"/>
                  </a:lnTo>
                  <a:lnTo>
                    <a:pt x="0" y="222776"/>
                  </a:lnTo>
                  <a:lnTo>
                    <a:pt x="0" y="0"/>
                  </a:lnTo>
                  <a:lnTo>
                    <a:pt x="514349" y="0"/>
                  </a:lnTo>
                  <a:lnTo>
                    <a:pt x="514349" y="247649"/>
                  </a:lnTo>
                  <a:close/>
                </a:path>
              </a:pathLst>
            </a:custGeom>
            <a:solidFill>
              <a:srgbClr val="F5F7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33399" y="2695574"/>
              <a:ext cx="514350" cy="247650"/>
            </a:xfrm>
            <a:custGeom>
              <a:avLst/>
              <a:gdLst/>
              <a:ahLst/>
              <a:cxnLst/>
              <a:rect l="l" t="t" r="r" b="b"/>
              <a:pathLst>
                <a:path w="514350" h="247650">
                  <a:moveTo>
                    <a:pt x="514349" y="247649"/>
                  </a:moveTo>
                  <a:lnTo>
                    <a:pt x="40046" y="247649"/>
                  </a:lnTo>
                  <a:lnTo>
                    <a:pt x="32756" y="246199"/>
                  </a:lnTo>
                  <a:lnTo>
                    <a:pt x="18752" y="240399"/>
                  </a:lnTo>
                  <a:lnTo>
                    <a:pt x="12572" y="236270"/>
                  </a:lnTo>
                  <a:lnTo>
                    <a:pt x="1854" y="225552"/>
                  </a:lnTo>
                  <a:lnTo>
                    <a:pt x="0" y="222776"/>
                  </a:lnTo>
                  <a:lnTo>
                    <a:pt x="0" y="0"/>
                  </a:lnTo>
                  <a:lnTo>
                    <a:pt x="514349" y="0"/>
                  </a:lnTo>
                  <a:lnTo>
                    <a:pt x="514349" y="2476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511175" y="1101089"/>
            <a:ext cx="5421630" cy="606425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80"/>
              </a:spcBef>
            </a:pPr>
            <a:r>
              <a:rPr sz="1150" b="1" spc="-100" dirty="0">
                <a:solidFill>
                  <a:srgbClr val="2562EB"/>
                </a:solidFill>
                <a:latin typeface="Arial"/>
                <a:cs typeface="Arial"/>
              </a:rPr>
              <a:t>Phase</a:t>
            </a:r>
            <a:r>
              <a:rPr sz="1150" b="1" spc="-35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75" dirty="0">
                <a:solidFill>
                  <a:srgbClr val="2562EB"/>
                </a:solidFill>
                <a:latin typeface="Arial"/>
                <a:cs typeface="Arial"/>
              </a:rPr>
              <a:t>1:</a:t>
            </a:r>
            <a:r>
              <a:rPr sz="1150" b="1" spc="-30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105" dirty="0">
                <a:solidFill>
                  <a:srgbClr val="2562EB"/>
                </a:solidFill>
                <a:latin typeface="Arial"/>
                <a:cs typeface="Arial"/>
              </a:rPr>
              <a:t>Replay</a:t>
            </a:r>
            <a:r>
              <a:rPr sz="1150" b="1" spc="-30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90" dirty="0">
                <a:solidFill>
                  <a:srgbClr val="2562EB"/>
                </a:solidFill>
                <a:latin typeface="Arial"/>
                <a:cs typeface="Arial"/>
              </a:rPr>
              <a:t>Ratio</a:t>
            </a:r>
            <a:r>
              <a:rPr sz="1150" b="1" spc="-30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85" dirty="0">
                <a:solidFill>
                  <a:srgbClr val="2562EB"/>
                </a:solidFill>
                <a:latin typeface="Arial"/>
                <a:cs typeface="Arial"/>
              </a:rPr>
              <a:t>Ablation</a:t>
            </a:r>
            <a:r>
              <a:rPr sz="1150" b="1" spc="-35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90" dirty="0">
                <a:solidFill>
                  <a:srgbClr val="2562EB"/>
                </a:solidFill>
                <a:latin typeface="Arial"/>
                <a:cs typeface="Arial"/>
              </a:rPr>
              <a:t>(SST-</a:t>
            </a:r>
            <a:r>
              <a:rPr sz="1150" b="1" spc="-25" dirty="0">
                <a:solidFill>
                  <a:srgbClr val="2562EB"/>
                </a:solidFill>
                <a:latin typeface="Arial"/>
                <a:cs typeface="Arial"/>
              </a:rPr>
              <a:t>2)</a:t>
            </a:r>
            <a:endParaRPr sz="1150">
              <a:latin typeface="Arial"/>
              <a:cs typeface="Arial"/>
            </a:endParaRPr>
          </a:p>
          <a:p>
            <a:pPr marL="12700" marR="5080">
              <a:lnSpc>
                <a:spcPct val="102299"/>
              </a:lnSpc>
              <a:spcBef>
                <a:spcPts val="215"/>
              </a:spcBef>
            </a:pPr>
            <a:r>
              <a:rPr sz="1050" b="1" spc="-85" dirty="0">
                <a:solidFill>
                  <a:srgbClr val="0E1729"/>
                </a:solidFill>
                <a:latin typeface="Arial"/>
                <a:cs typeface="Arial"/>
              </a:rPr>
              <a:t>Research</a:t>
            </a:r>
            <a:r>
              <a:rPr sz="1050" b="1" spc="-1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80" dirty="0">
                <a:solidFill>
                  <a:srgbClr val="0E1729"/>
                </a:solidFill>
                <a:latin typeface="Arial"/>
                <a:cs typeface="Arial"/>
              </a:rPr>
              <a:t>Question:</a:t>
            </a:r>
            <a:r>
              <a:rPr sz="1050" b="1" spc="-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rgbClr val="465469"/>
                </a:solidFill>
                <a:latin typeface="Arial"/>
                <a:cs typeface="Arial"/>
              </a:rPr>
              <a:t>Does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mixing</a:t>
            </a:r>
            <a:r>
              <a:rPr sz="1100" spc="-2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WikiText-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2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(general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text)</a:t>
            </a:r>
            <a:r>
              <a:rPr sz="1100" spc="-2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with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task</a:t>
            </a:r>
            <a:r>
              <a:rPr sz="1100" spc="-2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data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during</a:t>
            </a:r>
            <a:r>
              <a:rPr sz="1100" spc="-2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fine-</a:t>
            </a: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tuning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prevent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catastrophic</a:t>
            </a:r>
            <a:r>
              <a:rPr sz="1100" spc="1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forgetting?</a:t>
            </a:r>
            <a:endParaRPr sz="1100">
              <a:latin typeface="Arial"/>
              <a:cs typeface="Arial"/>
            </a:endParaRPr>
          </a:p>
        </p:txBody>
      </p:sp>
      <p:graphicFrame>
        <p:nvGraphicFramePr>
          <p:cNvPr id="12" name="object 12"/>
          <p:cNvGraphicFramePr>
            <a:graphicFrameLocks noGrp="1"/>
          </p:cNvGraphicFramePr>
          <p:nvPr/>
        </p:nvGraphicFramePr>
        <p:xfrm>
          <a:off x="523874" y="1752599"/>
          <a:ext cx="3086100" cy="11830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9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3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7490"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900" b="1" spc="-8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Replay</a:t>
                      </a:r>
                      <a:r>
                        <a:rPr sz="9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b="1" spc="-6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%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355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900" b="1" spc="-6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WikiText-</a:t>
                      </a:r>
                      <a:r>
                        <a:rPr sz="900" b="1" spc="-4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2</a:t>
                      </a:r>
                      <a:r>
                        <a:rPr sz="900" b="1" spc="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b="1" spc="-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PPL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06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900" b="1" spc="-9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vs</a:t>
                      </a:r>
                      <a:r>
                        <a:rPr sz="900" b="1" spc="-4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b="1" spc="-3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Baseline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445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9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Change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490"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000" spc="-25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Baseline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03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35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000" spc="-2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48.9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03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0640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000" spc="-35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—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03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4450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000" spc="-35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—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03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7965"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000" spc="-25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0%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03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35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000" spc="-1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101.0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03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0640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sz="950" b="1" spc="-10" dirty="0">
                          <a:solidFill>
                            <a:srgbClr val="DB2525"/>
                          </a:solidFill>
                          <a:latin typeface="Trebuchet MS"/>
                          <a:cs typeface="Trebuchet MS"/>
                        </a:rPr>
                        <a:t>+106%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2667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4450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000" spc="-55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Massive</a:t>
                      </a:r>
                      <a:r>
                        <a:rPr sz="1000" spc="-3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00" spc="-1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forgetting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03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490"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000" spc="-25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10%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03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35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000" spc="-2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36.4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03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0640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sz="950" b="1" dirty="0">
                          <a:solidFill>
                            <a:srgbClr val="0FB981"/>
                          </a:solidFill>
                          <a:latin typeface="Trebuchet MS"/>
                          <a:cs typeface="Trebuchet MS"/>
                        </a:rPr>
                        <a:t>-</a:t>
                      </a:r>
                      <a:r>
                        <a:rPr sz="950" b="1" spc="-25" dirty="0">
                          <a:solidFill>
                            <a:srgbClr val="0FB981"/>
                          </a:solidFill>
                          <a:latin typeface="Trebuchet MS"/>
                          <a:cs typeface="Trebuchet MS"/>
                        </a:rPr>
                        <a:t>26%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2667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4450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000" spc="-5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Better</a:t>
                      </a:r>
                      <a:r>
                        <a:rPr sz="1000" spc="-4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00" spc="-45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than</a:t>
                      </a:r>
                      <a:r>
                        <a:rPr sz="1000" spc="-4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00" spc="-1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baseline!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03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1050" b="1" spc="-25" dirty="0">
                          <a:solidFill>
                            <a:srgbClr val="0E1729"/>
                          </a:solidFill>
                          <a:latin typeface="Arial"/>
                          <a:cs typeface="Arial"/>
                        </a:rPr>
                        <a:t>20%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2349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46355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1050" b="1" spc="-20" dirty="0">
                          <a:solidFill>
                            <a:srgbClr val="0E1729"/>
                          </a:solidFill>
                          <a:latin typeface="Arial"/>
                          <a:cs typeface="Arial"/>
                        </a:rPr>
                        <a:t>32.9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2349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40640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1050" b="1" dirty="0">
                          <a:solidFill>
                            <a:srgbClr val="0E1729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1050" b="1" spc="-25" dirty="0">
                          <a:solidFill>
                            <a:srgbClr val="0E1729"/>
                          </a:solidFill>
                          <a:latin typeface="Arial"/>
                          <a:cs typeface="Arial"/>
                        </a:rPr>
                        <a:t>33%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2349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44450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1050" b="1" spc="-80" dirty="0">
                          <a:solidFill>
                            <a:srgbClr val="0E1729"/>
                          </a:solidFill>
                          <a:latin typeface="Arial"/>
                          <a:cs typeface="Arial"/>
                        </a:rPr>
                        <a:t>Best</a:t>
                      </a:r>
                      <a:r>
                        <a:rPr sz="1050" b="1" spc="-35" dirty="0">
                          <a:solidFill>
                            <a:srgbClr val="0E1729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0E1729"/>
                          </a:solidFill>
                          <a:latin typeface="Arial"/>
                          <a:cs typeface="Arial"/>
                        </a:rPr>
                        <a:t>recovery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2349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object 13"/>
          <p:cNvGrpSpPr/>
          <p:nvPr/>
        </p:nvGrpSpPr>
        <p:grpSpPr>
          <a:xfrm>
            <a:off x="469391" y="2983991"/>
            <a:ext cx="1862455" cy="984885"/>
            <a:chOff x="469391" y="2983991"/>
            <a:chExt cx="1862455" cy="984885"/>
          </a:xfrm>
        </p:grpSpPr>
        <p:sp>
          <p:nvSpPr>
            <p:cNvPr id="14" name="object 14"/>
            <p:cNvSpPr/>
            <p:nvPr/>
          </p:nvSpPr>
          <p:spPr>
            <a:xfrm>
              <a:off x="469391" y="2983991"/>
              <a:ext cx="1862455" cy="984885"/>
            </a:xfrm>
            <a:custGeom>
              <a:avLst/>
              <a:gdLst/>
              <a:ahLst/>
              <a:cxnLst/>
              <a:rect l="l" t="t" r="r" b="b"/>
              <a:pathLst>
                <a:path w="1862455" h="984885">
                  <a:moveTo>
                    <a:pt x="1862327" y="984503"/>
                  </a:moveTo>
                  <a:lnTo>
                    <a:pt x="0" y="984503"/>
                  </a:lnTo>
                  <a:lnTo>
                    <a:pt x="0" y="0"/>
                  </a:lnTo>
                  <a:lnTo>
                    <a:pt x="1862327" y="0"/>
                  </a:lnTo>
                  <a:lnTo>
                    <a:pt x="1862327" y="44957"/>
                  </a:lnTo>
                  <a:lnTo>
                    <a:pt x="111632" y="44957"/>
                  </a:lnTo>
                  <a:lnTo>
                    <a:pt x="102130" y="45829"/>
                  </a:lnTo>
                  <a:lnTo>
                    <a:pt x="67495" y="74300"/>
                  </a:lnTo>
                  <a:lnTo>
                    <a:pt x="64007" y="92582"/>
                  </a:lnTo>
                  <a:lnTo>
                    <a:pt x="64007" y="854582"/>
                  </a:lnTo>
                  <a:lnTo>
                    <a:pt x="85292" y="894361"/>
                  </a:lnTo>
                  <a:lnTo>
                    <a:pt x="111632" y="902207"/>
                  </a:lnTo>
                  <a:lnTo>
                    <a:pt x="1862327" y="902207"/>
                  </a:lnTo>
                  <a:lnTo>
                    <a:pt x="1862327" y="984503"/>
                  </a:lnTo>
                  <a:close/>
                </a:path>
                <a:path w="1862455" h="984885">
                  <a:moveTo>
                    <a:pt x="1862327" y="902207"/>
                  </a:moveTo>
                  <a:lnTo>
                    <a:pt x="1749932" y="902207"/>
                  </a:lnTo>
                  <a:lnTo>
                    <a:pt x="1759435" y="901335"/>
                  </a:lnTo>
                  <a:lnTo>
                    <a:pt x="1768215" y="898720"/>
                  </a:lnTo>
                  <a:lnTo>
                    <a:pt x="1796686" y="864085"/>
                  </a:lnTo>
                  <a:lnTo>
                    <a:pt x="1797557" y="854582"/>
                  </a:lnTo>
                  <a:lnTo>
                    <a:pt x="1797557" y="92582"/>
                  </a:lnTo>
                  <a:lnTo>
                    <a:pt x="1776273" y="52804"/>
                  </a:lnTo>
                  <a:lnTo>
                    <a:pt x="1749932" y="44957"/>
                  </a:lnTo>
                  <a:lnTo>
                    <a:pt x="1862327" y="44957"/>
                  </a:lnTo>
                  <a:lnTo>
                    <a:pt x="1862327" y="902207"/>
                  </a:lnTo>
                  <a:close/>
                </a:path>
              </a:pathLst>
            </a:custGeom>
            <a:solidFill>
              <a:srgbClr val="000000">
                <a:alpha val="783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23874" y="3033712"/>
              <a:ext cx="1752600" cy="862330"/>
            </a:xfrm>
            <a:custGeom>
              <a:avLst/>
              <a:gdLst/>
              <a:ahLst/>
              <a:cxnLst/>
              <a:rect l="l" t="t" r="r" b="b"/>
              <a:pathLst>
                <a:path w="1752600" h="862329">
                  <a:moveTo>
                    <a:pt x="1699202" y="862012"/>
                  </a:moveTo>
                  <a:lnTo>
                    <a:pt x="53397" y="862012"/>
                  </a:lnTo>
                  <a:lnTo>
                    <a:pt x="49681" y="861645"/>
                  </a:lnTo>
                  <a:lnTo>
                    <a:pt x="14085" y="842619"/>
                  </a:lnTo>
                  <a:lnTo>
                    <a:pt x="0" y="808614"/>
                  </a:lnTo>
                  <a:lnTo>
                    <a:pt x="0" y="804862"/>
                  </a:lnTo>
                  <a:lnTo>
                    <a:pt x="0" y="40048"/>
                  </a:lnTo>
                  <a:lnTo>
                    <a:pt x="22279" y="8787"/>
                  </a:lnTo>
                  <a:lnTo>
                    <a:pt x="53397" y="0"/>
                  </a:lnTo>
                  <a:lnTo>
                    <a:pt x="1699202" y="0"/>
                  </a:lnTo>
                  <a:lnTo>
                    <a:pt x="1738514" y="14544"/>
                  </a:lnTo>
                  <a:lnTo>
                    <a:pt x="1752599" y="40048"/>
                  </a:lnTo>
                  <a:lnTo>
                    <a:pt x="1752599" y="808614"/>
                  </a:lnTo>
                  <a:lnTo>
                    <a:pt x="1733207" y="847926"/>
                  </a:lnTo>
                  <a:lnTo>
                    <a:pt x="1702918" y="861646"/>
                  </a:lnTo>
                  <a:lnTo>
                    <a:pt x="1699202" y="86201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523874" y="3019424"/>
              <a:ext cx="1752600" cy="57150"/>
            </a:xfrm>
            <a:custGeom>
              <a:avLst/>
              <a:gdLst/>
              <a:ahLst/>
              <a:cxnLst/>
              <a:rect l="l" t="t" r="r" b="b"/>
              <a:pathLst>
                <a:path w="1752600" h="57150">
                  <a:moveTo>
                    <a:pt x="0" y="57149"/>
                  </a:moveTo>
                  <a:lnTo>
                    <a:pt x="22097" y="11379"/>
                  </a:lnTo>
                  <a:lnTo>
                    <a:pt x="49571" y="0"/>
                  </a:lnTo>
                  <a:lnTo>
                    <a:pt x="1703028" y="0"/>
                  </a:lnTo>
                  <a:lnTo>
                    <a:pt x="1741219" y="22097"/>
                  </a:lnTo>
                  <a:lnTo>
                    <a:pt x="1745472" y="28574"/>
                  </a:lnTo>
                  <a:lnTo>
                    <a:pt x="57149" y="28574"/>
                  </a:lnTo>
                  <a:lnTo>
                    <a:pt x="45747" y="29098"/>
                  </a:lnTo>
                  <a:lnTo>
                    <a:pt x="9415" y="41345"/>
                  </a:lnTo>
                  <a:lnTo>
                    <a:pt x="1046" y="51448"/>
                  </a:lnTo>
                  <a:lnTo>
                    <a:pt x="0" y="57149"/>
                  </a:lnTo>
                  <a:close/>
                </a:path>
                <a:path w="1752600" h="57150">
                  <a:moveTo>
                    <a:pt x="1752599" y="57149"/>
                  </a:moveTo>
                  <a:lnTo>
                    <a:pt x="1717388" y="30667"/>
                  </a:lnTo>
                  <a:lnTo>
                    <a:pt x="1695449" y="28574"/>
                  </a:lnTo>
                  <a:lnTo>
                    <a:pt x="1745472" y="28574"/>
                  </a:lnTo>
                  <a:lnTo>
                    <a:pt x="1751149" y="42281"/>
                  </a:lnTo>
                  <a:lnTo>
                    <a:pt x="1752599" y="49571"/>
                  </a:lnTo>
                  <a:lnTo>
                    <a:pt x="1752599" y="57149"/>
                  </a:lnTo>
                  <a:close/>
                </a:path>
              </a:pathLst>
            </a:custGeom>
            <a:solidFill>
              <a:srgbClr val="3B81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960933" y="3112709"/>
            <a:ext cx="876935" cy="16129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900" dirty="0">
                <a:solidFill>
                  <a:srgbClr val="64738B"/>
                </a:solidFill>
                <a:latin typeface="Lucida Sans Unicode"/>
                <a:cs typeface="Lucida Sans Unicode"/>
              </a:rPr>
              <a:t>0%</a:t>
            </a:r>
            <a:r>
              <a:rPr sz="900" spc="-70" dirty="0">
                <a:solidFill>
                  <a:srgbClr val="64738B"/>
                </a:solidFill>
                <a:latin typeface="Lucida Sans Unicode"/>
                <a:cs typeface="Lucida Sans Unicode"/>
              </a:rPr>
              <a:t> </a:t>
            </a:r>
            <a:r>
              <a:rPr sz="900" spc="-35" dirty="0">
                <a:solidFill>
                  <a:srgbClr val="64738B"/>
                </a:solidFill>
                <a:latin typeface="Lucida Sans Unicode"/>
                <a:cs typeface="Lucida Sans Unicode"/>
              </a:rPr>
              <a:t>FORGETTING</a:t>
            </a:r>
            <a:endParaRPr sz="900">
              <a:latin typeface="Lucida Sans Unicode"/>
              <a:cs typeface="Lucida Sans Unicode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045467" y="3144913"/>
            <a:ext cx="712470" cy="661035"/>
          </a:xfrm>
          <a:prstGeom prst="rect">
            <a:avLst/>
          </a:prstGeom>
        </p:spPr>
        <p:txBody>
          <a:bodyPr vert="horz" wrap="square" lIns="0" tIns="16002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260"/>
              </a:spcBef>
            </a:pPr>
            <a:r>
              <a:rPr sz="1950" b="1" spc="-75" dirty="0">
                <a:solidFill>
                  <a:srgbClr val="DB2525"/>
                </a:solidFill>
                <a:latin typeface="Trebuchet MS"/>
                <a:cs typeface="Trebuchet MS"/>
              </a:rPr>
              <a:t>+106%</a:t>
            </a:r>
            <a:endParaRPr sz="1950">
              <a:latin typeface="Trebuchet MS"/>
              <a:cs typeface="Trebuchet MS"/>
            </a:endParaRPr>
          </a:p>
          <a:p>
            <a:pPr algn="ctr">
              <a:lnSpc>
                <a:spcPct val="100000"/>
              </a:lnSpc>
              <a:spcBef>
                <a:spcPts val="535"/>
              </a:spcBef>
            </a:pPr>
            <a:r>
              <a:rPr sz="800" spc="-35" dirty="0">
                <a:solidFill>
                  <a:srgbClr val="94A2B8"/>
                </a:solidFill>
                <a:latin typeface="Arial"/>
                <a:cs typeface="Arial"/>
              </a:rPr>
              <a:t>vs</a:t>
            </a:r>
            <a:r>
              <a:rPr sz="800" spc="-30" dirty="0">
                <a:solidFill>
                  <a:srgbClr val="94A2B8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rgbClr val="94A2B8"/>
                </a:solidFill>
                <a:latin typeface="Arial"/>
                <a:cs typeface="Arial"/>
              </a:rPr>
              <a:t>baseline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2334767" y="2983991"/>
            <a:ext cx="1871980" cy="984885"/>
            <a:chOff x="2334767" y="2983991"/>
            <a:chExt cx="1871980" cy="984885"/>
          </a:xfrm>
        </p:grpSpPr>
        <p:sp>
          <p:nvSpPr>
            <p:cNvPr id="20" name="object 20"/>
            <p:cNvSpPr/>
            <p:nvPr/>
          </p:nvSpPr>
          <p:spPr>
            <a:xfrm>
              <a:off x="2334767" y="2983991"/>
              <a:ext cx="1871980" cy="984885"/>
            </a:xfrm>
            <a:custGeom>
              <a:avLst/>
              <a:gdLst/>
              <a:ahLst/>
              <a:cxnLst/>
              <a:rect l="l" t="t" r="r" b="b"/>
              <a:pathLst>
                <a:path w="1871979" h="984885">
                  <a:moveTo>
                    <a:pt x="1871471" y="984503"/>
                  </a:moveTo>
                  <a:lnTo>
                    <a:pt x="0" y="984503"/>
                  </a:lnTo>
                  <a:lnTo>
                    <a:pt x="0" y="0"/>
                  </a:lnTo>
                  <a:lnTo>
                    <a:pt x="1871471" y="0"/>
                  </a:lnTo>
                  <a:lnTo>
                    <a:pt x="1871471" y="44957"/>
                  </a:lnTo>
                  <a:lnTo>
                    <a:pt x="113156" y="44957"/>
                  </a:lnTo>
                  <a:lnTo>
                    <a:pt x="103654" y="45829"/>
                  </a:lnTo>
                  <a:lnTo>
                    <a:pt x="69019" y="74300"/>
                  </a:lnTo>
                  <a:lnTo>
                    <a:pt x="65531" y="92582"/>
                  </a:lnTo>
                  <a:lnTo>
                    <a:pt x="65531" y="854582"/>
                  </a:lnTo>
                  <a:lnTo>
                    <a:pt x="86816" y="894361"/>
                  </a:lnTo>
                  <a:lnTo>
                    <a:pt x="113156" y="902207"/>
                  </a:lnTo>
                  <a:lnTo>
                    <a:pt x="1871471" y="902207"/>
                  </a:lnTo>
                  <a:lnTo>
                    <a:pt x="1871471" y="984503"/>
                  </a:lnTo>
                  <a:close/>
                </a:path>
                <a:path w="1871979" h="984885">
                  <a:moveTo>
                    <a:pt x="1871471" y="902207"/>
                  </a:moveTo>
                  <a:lnTo>
                    <a:pt x="1760981" y="902207"/>
                  </a:lnTo>
                  <a:lnTo>
                    <a:pt x="1770484" y="901335"/>
                  </a:lnTo>
                  <a:lnTo>
                    <a:pt x="1779264" y="898720"/>
                  </a:lnTo>
                  <a:lnTo>
                    <a:pt x="1807734" y="864085"/>
                  </a:lnTo>
                  <a:lnTo>
                    <a:pt x="1808606" y="854582"/>
                  </a:lnTo>
                  <a:lnTo>
                    <a:pt x="1808606" y="92582"/>
                  </a:lnTo>
                  <a:lnTo>
                    <a:pt x="1787321" y="52804"/>
                  </a:lnTo>
                  <a:lnTo>
                    <a:pt x="1760981" y="44957"/>
                  </a:lnTo>
                  <a:lnTo>
                    <a:pt x="1871471" y="44957"/>
                  </a:lnTo>
                  <a:lnTo>
                    <a:pt x="1871471" y="902207"/>
                  </a:lnTo>
                  <a:close/>
                </a:path>
              </a:pathLst>
            </a:custGeom>
            <a:solidFill>
              <a:srgbClr val="000000">
                <a:alpha val="783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2390774" y="3033712"/>
              <a:ext cx="1762125" cy="862330"/>
            </a:xfrm>
            <a:custGeom>
              <a:avLst/>
              <a:gdLst/>
              <a:ahLst/>
              <a:cxnLst/>
              <a:rect l="l" t="t" r="r" b="b"/>
              <a:pathLst>
                <a:path w="1762125" h="862329">
                  <a:moveTo>
                    <a:pt x="1708727" y="862012"/>
                  </a:moveTo>
                  <a:lnTo>
                    <a:pt x="53397" y="862012"/>
                  </a:lnTo>
                  <a:lnTo>
                    <a:pt x="49680" y="861645"/>
                  </a:lnTo>
                  <a:lnTo>
                    <a:pt x="14085" y="842619"/>
                  </a:lnTo>
                  <a:lnTo>
                    <a:pt x="0" y="808614"/>
                  </a:lnTo>
                  <a:lnTo>
                    <a:pt x="0" y="804862"/>
                  </a:lnTo>
                  <a:lnTo>
                    <a:pt x="0" y="40048"/>
                  </a:lnTo>
                  <a:lnTo>
                    <a:pt x="22278" y="8787"/>
                  </a:lnTo>
                  <a:lnTo>
                    <a:pt x="53397" y="0"/>
                  </a:lnTo>
                  <a:lnTo>
                    <a:pt x="1708727" y="0"/>
                  </a:lnTo>
                  <a:lnTo>
                    <a:pt x="1748039" y="14544"/>
                  </a:lnTo>
                  <a:lnTo>
                    <a:pt x="1762125" y="40048"/>
                  </a:lnTo>
                  <a:lnTo>
                    <a:pt x="1762125" y="808614"/>
                  </a:lnTo>
                  <a:lnTo>
                    <a:pt x="1742732" y="847926"/>
                  </a:lnTo>
                  <a:lnTo>
                    <a:pt x="1712443" y="861646"/>
                  </a:lnTo>
                  <a:lnTo>
                    <a:pt x="1708727" y="86201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390774" y="3019424"/>
              <a:ext cx="1762125" cy="57150"/>
            </a:xfrm>
            <a:custGeom>
              <a:avLst/>
              <a:gdLst/>
              <a:ahLst/>
              <a:cxnLst/>
              <a:rect l="l" t="t" r="r" b="b"/>
              <a:pathLst>
                <a:path w="1762125" h="57150">
                  <a:moveTo>
                    <a:pt x="0" y="57149"/>
                  </a:moveTo>
                  <a:lnTo>
                    <a:pt x="22097" y="11379"/>
                  </a:lnTo>
                  <a:lnTo>
                    <a:pt x="49571" y="0"/>
                  </a:lnTo>
                  <a:lnTo>
                    <a:pt x="1712553" y="0"/>
                  </a:lnTo>
                  <a:lnTo>
                    <a:pt x="1750744" y="22097"/>
                  </a:lnTo>
                  <a:lnTo>
                    <a:pt x="1754997" y="28574"/>
                  </a:lnTo>
                  <a:lnTo>
                    <a:pt x="57149" y="28574"/>
                  </a:lnTo>
                  <a:lnTo>
                    <a:pt x="45747" y="29098"/>
                  </a:lnTo>
                  <a:lnTo>
                    <a:pt x="9415" y="41345"/>
                  </a:lnTo>
                  <a:lnTo>
                    <a:pt x="1046" y="51448"/>
                  </a:lnTo>
                  <a:lnTo>
                    <a:pt x="0" y="57149"/>
                  </a:lnTo>
                  <a:close/>
                </a:path>
                <a:path w="1762125" h="57150">
                  <a:moveTo>
                    <a:pt x="1762124" y="57149"/>
                  </a:moveTo>
                  <a:lnTo>
                    <a:pt x="1726913" y="30667"/>
                  </a:lnTo>
                  <a:lnTo>
                    <a:pt x="1704974" y="28574"/>
                  </a:lnTo>
                  <a:lnTo>
                    <a:pt x="1754997" y="28574"/>
                  </a:lnTo>
                  <a:lnTo>
                    <a:pt x="1760674" y="42281"/>
                  </a:lnTo>
                  <a:lnTo>
                    <a:pt x="1762124" y="49571"/>
                  </a:lnTo>
                  <a:lnTo>
                    <a:pt x="1762124" y="57149"/>
                  </a:lnTo>
                  <a:close/>
                </a:path>
              </a:pathLst>
            </a:custGeom>
            <a:solidFill>
              <a:srgbClr val="3B81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2859831" y="3112709"/>
            <a:ext cx="819150" cy="16129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900" spc="-35" dirty="0">
                <a:solidFill>
                  <a:srgbClr val="64738B"/>
                </a:solidFill>
                <a:latin typeface="Lucida Sans Unicode"/>
                <a:cs typeface="Lucida Sans Unicode"/>
              </a:rPr>
              <a:t>20%</a:t>
            </a:r>
            <a:r>
              <a:rPr sz="900" spc="-30" dirty="0">
                <a:solidFill>
                  <a:srgbClr val="64738B"/>
                </a:solidFill>
                <a:latin typeface="Lucida Sans Unicode"/>
                <a:cs typeface="Lucida Sans Unicode"/>
              </a:rPr>
              <a:t> </a:t>
            </a:r>
            <a:r>
              <a:rPr sz="900" spc="-35" dirty="0">
                <a:solidFill>
                  <a:srgbClr val="64738B"/>
                </a:solidFill>
                <a:latin typeface="Lucida Sans Unicode"/>
                <a:cs typeface="Lucida Sans Unicode"/>
              </a:rPr>
              <a:t>RECOVERY</a:t>
            </a:r>
            <a:endParaRPr sz="900">
              <a:latin typeface="Lucida Sans Unicode"/>
              <a:cs typeface="Lucida Sans Unicode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945258" y="3144913"/>
            <a:ext cx="653415" cy="661035"/>
          </a:xfrm>
          <a:prstGeom prst="rect">
            <a:avLst/>
          </a:prstGeom>
        </p:spPr>
        <p:txBody>
          <a:bodyPr vert="horz" wrap="square" lIns="0" tIns="16002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260"/>
              </a:spcBef>
            </a:pPr>
            <a:r>
              <a:rPr sz="1950" b="1" spc="-25" dirty="0">
                <a:solidFill>
                  <a:srgbClr val="0FB981"/>
                </a:solidFill>
                <a:latin typeface="Trebuchet MS"/>
                <a:cs typeface="Trebuchet MS"/>
              </a:rPr>
              <a:t>67%</a:t>
            </a:r>
            <a:endParaRPr sz="1950">
              <a:latin typeface="Trebuchet MS"/>
              <a:cs typeface="Trebuchet MS"/>
            </a:endParaRPr>
          </a:p>
          <a:p>
            <a:pPr algn="ctr">
              <a:lnSpc>
                <a:spcPct val="100000"/>
              </a:lnSpc>
              <a:spcBef>
                <a:spcPts val="535"/>
              </a:spcBef>
            </a:pPr>
            <a:r>
              <a:rPr sz="800" dirty="0">
                <a:solidFill>
                  <a:srgbClr val="94A2B8"/>
                </a:solidFill>
                <a:latin typeface="Arial"/>
                <a:cs typeface="Arial"/>
              </a:rPr>
              <a:t>from</a:t>
            </a:r>
            <a:r>
              <a:rPr sz="800" spc="-55" dirty="0">
                <a:solidFill>
                  <a:srgbClr val="94A2B8"/>
                </a:solidFill>
                <a:latin typeface="Arial"/>
                <a:cs typeface="Arial"/>
              </a:rPr>
              <a:t> </a:t>
            </a:r>
            <a:r>
              <a:rPr sz="800" spc="-95" dirty="0">
                <a:solidFill>
                  <a:srgbClr val="94A2B8"/>
                </a:solidFill>
                <a:latin typeface="Arial"/>
                <a:cs typeface="Arial"/>
              </a:rPr>
              <a:t>0%</a:t>
            </a:r>
            <a:r>
              <a:rPr sz="800" spc="-40" dirty="0">
                <a:solidFill>
                  <a:srgbClr val="94A2B8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rgbClr val="94A2B8"/>
                </a:solidFill>
                <a:latin typeface="Arial"/>
                <a:cs typeface="Arial"/>
              </a:rPr>
              <a:t>replay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4212335" y="2983991"/>
            <a:ext cx="1862455" cy="984885"/>
            <a:chOff x="4212335" y="2983991"/>
            <a:chExt cx="1862455" cy="984885"/>
          </a:xfrm>
        </p:grpSpPr>
        <p:sp>
          <p:nvSpPr>
            <p:cNvPr id="26" name="object 26"/>
            <p:cNvSpPr/>
            <p:nvPr/>
          </p:nvSpPr>
          <p:spPr>
            <a:xfrm>
              <a:off x="4212335" y="2983991"/>
              <a:ext cx="1862455" cy="984885"/>
            </a:xfrm>
            <a:custGeom>
              <a:avLst/>
              <a:gdLst/>
              <a:ahLst/>
              <a:cxnLst/>
              <a:rect l="l" t="t" r="r" b="b"/>
              <a:pathLst>
                <a:path w="1862454" h="984885">
                  <a:moveTo>
                    <a:pt x="1862327" y="984503"/>
                  </a:moveTo>
                  <a:lnTo>
                    <a:pt x="0" y="984503"/>
                  </a:lnTo>
                  <a:lnTo>
                    <a:pt x="0" y="0"/>
                  </a:lnTo>
                  <a:lnTo>
                    <a:pt x="1862327" y="0"/>
                  </a:lnTo>
                  <a:lnTo>
                    <a:pt x="1862327" y="44957"/>
                  </a:lnTo>
                  <a:lnTo>
                    <a:pt x="112013" y="44957"/>
                  </a:lnTo>
                  <a:lnTo>
                    <a:pt x="102511" y="45829"/>
                  </a:lnTo>
                  <a:lnTo>
                    <a:pt x="67875" y="74300"/>
                  </a:lnTo>
                  <a:lnTo>
                    <a:pt x="64388" y="92582"/>
                  </a:lnTo>
                  <a:lnTo>
                    <a:pt x="64388" y="854582"/>
                  </a:lnTo>
                  <a:lnTo>
                    <a:pt x="85673" y="894361"/>
                  </a:lnTo>
                  <a:lnTo>
                    <a:pt x="112013" y="902207"/>
                  </a:lnTo>
                  <a:lnTo>
                    <a:pt x="1862327" y="902207"/>
                  </a:lnTo>
                  <a:lnTo>
                    <a:pt x="1862327" y="984503"/>
                  </a:lnTo>
                  <a:close/>
                </a:path>
                <a:path w="1862454" h="984885">
                  <a:moveTo>
                    <a:pt x="1862327" y="902207"/>
                  </a:moveTo>
                  <a:lnTo>
                    <a:pt x="1750313" y="902207"/>
                  </a:lnTo>
                  <a:lnTo>
                    <a:pt x="1759816" y="901335"/>
                  </a:lnTo>
                  <a:lnTo>
                    <a:pt x="1768596" y="898720"/>
                  </a:lnTo>
                  <a:lnTo>
                    <a:pt x="1797066" y="864085"/>
                  </a:lnTo>
                  <a:lnTo>
                    <a:pt x="1797938" y="854582"/>
                  </a:lnTo>
                  <a:lnTo>
                    <a:pt x="1797938" y="92582"/>
                  </a:lnTo>
                  <a:lnTo>
                    <a:pt x="1776653" y="52804"/>
                  </a:lnTo>
                  <a:lnTo>
                    <a:pt x="1750313" y="44957"/>
                  </a:lnTo>
                  <a:lnTo>
                    <a:pt x="1862327" y="44957"/>
                  </a:lnTo>
                  <a:lnTo>
                    <a:pt x="1862327" y="902207"/>
                  </a:lnTo>
                  <a:close/>
                </a:path>
              </a:pathLst>
            </a:custGeom>
            <a:solidFill>
              <a:srgbClr val="000000">
                <a:alpha val="783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4267199" y="3033712"/>
              <a:ext cx="1752600" cy="862330"/>
            </a:xfrm>
            <a:custGeom>
              <a:avLst/>
              <a:gdLst/>
              <a:ahLst/>
              <a:cxnLst/>
              <a:rect l="l" t="t" r="r" b="b"/>
              <a:pathLst>
                <a:path w="1752600" h="862329">
                  <a:moveTo>
                    <a:pt x="1699202" y="862012"/>
                  </a:moveTo>
                  <a:lnTo>
                    <a:pt x="53397" y="862012"/>
                  </a:lnTo>
                  <a:lnTo>
                    <a:pt x="49680" y="861645"/>
                  </a:lnTo>
                  <a:lnTo>
                    <a:pt x="14085" y="842619"/>
                  </a:lnTo>
                  <a:lnTo>
                    <a:pt x="0" y="808614"/>
                  </a:lnTo>
                  <a:lnTo>
                    <a:pt x="0" y="804862"/>
                  </a:lnTo>
                  <a:lnTo>
                    <a:pt x="0" y="40048"/>
                  </a:lnTo>
                  <a:lnTo>
                    <a:pt x="22278" y="8787"/>
                  </a:lnTo>
                  <a:lnTo>
                    <a:pt x="53397" y="0"/>
                  </a:lnTo>
                  <a:lnTo>
                    <a:pt x="1699202" y="0"/>
                  </a:lnTo>
                  <a:lnTo>
                    <a:pt x="1738513" y="14544"/>
                  </a:lnTo>
                  <a:lnTo>
                    <a:pt x="1752599" y="40048"/>
                  </a:lnTo>
                  <a:lnTo>
                    <a:pt x="1752599" y="808614"/>
                  </a:lnTo>
                  <a:lnTo>
                    <a:pt x="1733207" y="847926"/>
                  </a:lnTo>
                  <a:lnTo>
                    <a:pt x="1702918" y="861646"/>
                  </a:lnTo>
                  <a:lnTo>
                    <a:pt x="1699202" y="86201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4267199" y="3019424"/>
              <a:ext cx="1752600" cy="57150"/>
            </a:xfrm>
            <a:custGeom>
              <a:avLst/>
              <a:gdLst/>
              <a:ahLst/>
              <a:cxnLst/>
              <a:rect l="l" t="t" r="r" b="b"/>
              <a:pathLst>
                <a:path w="1752600" h="57150">
                  <a:moveTo>
                    <a:pt x="0" y="57149"/>
                  </a:moveTo>
                  <a:lnTo>
                    <a:pt x="0" y="49571"/>
                  </a:lnTo>
                  <a:lnTo>
                    <a:pt x="1449" y="42281"/>
                  </a:lnTo>
                  <a:lnTo>
                    <a:pt x="7126" y="28574"/>
                  </a:lnTo>
                  <a:lnTo>
                    <a:pt x="7249" y="28277"/>
                  </a:lnTo>
                  <a:lnTo>
                    <a:pt x="42280" y="1449"/>
                  </a:lnTo>
                  <a:lnTo>
                    <a:pt x="49570" y="0"/>
                  </a:lnTo>
                  <a:lnTo>
                    <a:pt x="1703028" y="0"/>
                  </a:lnTo>
                  <a:lnTo>
                    <a:pt x="1741219" y="22097"/>
                  </a:lnTo>
                  <a:lnTo>
                    <a:pt x="1745471" y="28574"/>
                  </a:lnTo>
                  <a:lnTo>
                    <a:pt x="57150" y="28574"/>
                  </a:lnTo>
                  <a:lnTo>
                    <a:pt x="45747" y="29098"/>
                  </a:lnTo>
                  <a:lnTo>
                    <a:pt x="9415" y="41345"/>
                  </a:lnTo>
                  <a:lnTo>
                    <a:pt x="1045" y="51448"/>
                  </a:lnTo>
                  <a:lnTo>
                    <a:pt x="0" y="57149"/>
                  </a:lnTo>
                  <a:close/>
                </a:path>
                <a:path w="1752600" h="57150">
                  <a:moveTo>
                    <a:pt x="1752599" y="57149"/>
                  </a:moveTo>
                  <a:lnTo>
                    <a:pt x="1717388" y="30667"/>
                  </a:lnTo>
                  <a:lnTo>
                    <a:pt x="1695449" y="28574"/>
                  </a:lnTo>
                  <a:lnTo>
                    <a:pt x="1745471" y="28574"/>
                  </a:lnTo>
                  <a:lnTo>
                    <a:pt x="1751149" y="42281"/>
                  </a:lnTo>
                  <a:lnTo>
                    <a:pt x="1752599" y="49571"/>
                  </a:lnTo>
                  <a:lnTo>
                    <a:pt x="1752599" y="57149"/>
                  </a:lnTo>
                  <a:close/>
                </a:path>
              </a:pathLst>
            </a:custGeom>
            <a:solidFill>
              <a:srgbClr val="3B81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4760664" y="3112709"/>
            <a:ext cx="757555" cy="16129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900" spc="-10" dirty="0">
                <a:solidFill>
                  <a:srgbClr val="64738B"/>
                </a:solidFill>
                <a:latin typeface="Lucida Sans Unicode"/>
                <a:cs typeface="Lucida Sans Unicode"/>
              </a:rPr>
              <a:t>FINAL</a:t>
            </a:r>
            <a:r>
              <a:rPr sz="900" spc="-45" dirty="0">
                <a:solidFill>
                  <a:srgbClr val="64738B"/>
                </a:solidFill>
                <a:latin typeface="Lucida Sans Unicode"/>
                <a:cs typeface="Lucida Sans Unicode"/>
              </a:rPr>
              <a:t> </a:t>
            </a:r>
            <a:r>
              <a:rPr sz="900" spc="-25" dirty="0">
                <a:solidFill>
                  <a:srgbClr val="64738B"/>
                </a:solidFill>
                <a:latin typeface="Lucida Sans Unicode"/>
                <a:cs typeface="Lucida Sans Unicode"/>
              </a:rPr>
              <a:t>RESULT</a:t>
            </a:r>
            <a:endParaRPr sz="900">
              <a:latin typeface="Lucida Sans Unicode"/>
              <a:cs typeface="Lucida Sans Unicode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4706639" y="3144913"/>
            <a:ext cx="870585" cy="661035"/>
          </a:xfrm>
          <a:prstGeom prst="rect">
            <a:avLst/>
          </a:prstGeom>
        </p:spPr>
        <p:txBody>
          <a:bodyPr vert="horz" wrap="square" lIns="0" tIns="16002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260"/>
              </a:spcBef>
            </a:pPr>
            <a:r>
              <a:rPr sz="1950" b="1" spc="-20" dirty="0">
                <a:solidFill>
                  <a:srgbClr val="0FB981"/>
                </a:solidFill>
                <a:latin typeface="Trebuchet MS"/>
                <a:cs typeface="Trebuchet MS"/>
              </a:rPr>
              <a:t>-</a:t>
            </a:r>
            <a:r>
              <a:rPr sz="1950" b="1" spc="-25" dirty="0">
                <a:solidFill>
                  <a:srgbClr val="0FB981"/>
                </a:solidFill>
                <a:latin typeface="Trebuchet MS"/>
                <a:cs typeface="Trebuchet MS"/>
              </a:rPr>
              <a:t>33%</a:t>
            </a:r>
            <a:endParaRPr sz="1950">
              <a:latin typeface="Trebuchet MS"/>
              <a:cs typeface="Trebuchet MS"/>
            </a:endParaRPr>
          </a:p>
          <a:p>
            <a:pPr algn="ctr">
              <a:lnSpc>
                <a:spcPct val="100000"/>
              </a:lnSpc>
              <a:spcBef>
                <a:spcPts val="535"/>
              </a:spcBef>
            </a:pPr>
            <a:r>
              <a:rPr sz="800" spc="-30" dirty="0">
                <a:solidFill>
                  <a:srgbClr val="94A2B8"/>
                </a:solidFill>
                <a:latin typeface="Arial"/>
                <a:cs typeface="Arial"/>
              </a:rPr>
              <a:t>Better</a:t>
            </a:r>
            <a:r>
              <a:rPr sz="800" spc="-10" dirty="0">
                <a:solidFill>
                  <a:srgbClr val="94A2B8"/>
                </a:solidFill>
                <a:latin typeface="Arial"/>
                <a:cs typeface="Arial"/>
              </a:rPr>
              <a:t> </a:t>
            </a:r>
            <a:r>
              <a:rPr sz="800" spc="-25" dirty="0">
                <a:solidFill>
                  <a:srgbClr val="94A2B8"/>
                </a:solidFill>
                <a:latin typeface="Arial"/>
                <a:cs typeface="Arial"/>
              </a:rPr>
              <a:t>than</a:t>
            </a:r>
            <a:r>
              <a:rPr sz="800" spc="-5" dirty="0">
                <a:solidFill>
                  <a:srgbClr val="94A2B8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rgbClr val="94A2B8"/>
                </a:solidFill>
                <a:latin typeface="Arial"/>
                <a:cs typeface="Arial"/>
              </a:rPr>
              <a:t>baseline</a:t>
            </a:r>
            <a:endParaRPr sz="8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511175" y="3943834"/>
            <a:ext cx="5233035" cy="36449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 marR="5080">
              <a:lnSpc>
                <a:spcPct val="102299"/>
              </a:lnSpc>
              <a:spcBef>
                <a:spcPts val="65"/>
              </a:spcBef>
            </a:pPr>
            <a:r>
              <a:rPr sz="1050" b="1" spc="-110" dirty="0">
                <a:solidFill>
                  <a:srgbClr val="0E1729"/>
                </a:solidFill>
                <a:latin typeface="Arial"/>
                <a:cs typeface="Arial"/>
              </a:rPr>
              <a:t>Key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80" dirty="0">
                <a:solidFill>
                  <a:srgbClr val="0E1729"/>
                </a:solidFill>
                <a:latin typeface="Arial"/>
                <a:cs typeface="Arial"/>
              </a:rPr>
              <a:t>Finding:</a:t>
            </a:r>
            <a:r>
              <a:rPr sz="1050" b="1" spc="-2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135" dirty="0">
                <a:solidFill>
                  <a:srgbClr val="465469"/>
                </a:solidFill>
                <a:latin typeface="Arial"/>
                <a:cs typeface="Arial"/>
              </a:rPr>
              <a:t>20%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replay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not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only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prevents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forgetting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but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achieves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35" dirty="0">
                <a:solidFill>
                  <a:srgbClr val="465469"/>
                </a:solidFill>
                <a:latin typeface="Arial"/>
                <a:cs typeface="Arial"/>
              </a:rPr>
              <a:t>33%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better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14" dirty="0">
                <a:solidFill>
                  <a:srgbClr val="465469"/>
                </a:solidFill>
                <a:latin typeface="Arial"/>
                <a:cs typeface="Arial"/>
              </a:rPr>
              <a:t>PPL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than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baseline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(32.9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vs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48.9)</a:t>
            </a:r>
            <a:endParaRPr sz="1100">
              <a:latin typeface="Arial"/>
              <a:cs typeface="Arial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6117335" y="1545335"/>
            <a:ext cx="5605780" cy="1127760"/>
            <a:chOff x="6117335" y="1545335"/>
            <a:chExt cx="5605780" cy="1127760"/>
          </a:xfrm>
        </p:grpSpPr>
        <p:sp>
          <p:nvSpPr>
            <p:cNvPr id="33" name="object 33"/>
            <p:cNvSpPr/>
            <p:nvPr/>
          </p:nvSpPr>
          <p:spPr>
            <a:xfrm>
              <a:off x="6117335" y="1545335"/>
              <a:ext cx="5605780" cy="1127760"/>
            </a:xfrm>
            <a:custGeom>
              <a:avLst/>
              <a:gdLst/>
              <a:ahLst/>
              <a:cxnLst/>
              <a:rect l="l" t="t" r="r" b="b"/>
              <a:pathLst>
                <a:path w="5605780" h="1127760">
                  <a:moveTo>
                    <a:pt x="5605271" y="1127759"/>
                  </a:moveTo>
                  <a:lnTo>
                    <a:pt x="0" y="1127759"/>
                  </a:lnTo>
                  <a:lnTo>
                    <a:pt x="0" y="0"/>
                  </a:lnTo>
                  <a:lnTo>
                    <a:pt x="5605271" y="0"/>
                  </a:lnTo>
                  <a:lnTo>
                    <a:pt x="5605271" y="45338"/>
                  </a:lnTo>
                  <a:lnTo>
                    <a:pt x="112013" y="45338"/>
                  </a:lnTo>
                  <a:lnTo>
                    <a:pt x="102511" y="46210"/>
                  </a:lnTo>
                  <a:lnTo>
                    <a:pt x="67876" y="74681"/>
                  </a:lnTo>
                  <a:lnTo>
                    <a:pt x="64388" y="92963"/>
                  </a:lnTo>
                  <a:lnTo>
                    <a:pt x="64388" y="997838"/>
                  </a:lnTo>
                  <a:lnTo>
                    <a:pt x="85673" y="1037617"/>
                  </a:lnTo>
                  <a:lnTo>
                    <a:pt x="112013" y="1045463"/>
                  </a:lnTo>
                  <a:lnTo>
                    <a:pt x="5605271" y="1045463"/>
                  </a:lnTo>
                  <a:lnTo>
                    <a:pt x="5605271" y="1127759"/>
                  </a:lnTo>
                  <a:close/>
                </a:path>
                <a:path w="5605780" h="1127760">
                  <a:moveTo>
                    <a:pt x="5605271" y="1045463"/>
                  </a:moveTo>
                  <a:lnTo>
                    <a:pt x="5493638" y="1045463"/>
                  </a:lnTo>
                  <a:lnTo>
                    <a:pt x="5503141" y="1044592"/>
                  </a:lnTo>
                  <a:lnTo>
                    <a:pt x="5511920" y="1041976"/>
                  </a:lnTo>
                  <a:lnTo>
                    <a:pt x="5540391" y="1007341"/>
                  </a:lnTo>
                  <a:lnTo>
                    <a:pt x="5541263" y="997838"/>
                  </a:lnTo>
                  <a:lnTo>
                    <a:pt x="5541263" y="92963"/>
                  </a:lnTo>
                  <a:lnTo>
                    <a:pt x="5519978" y="53185"/>
                  </a:lnTo>
                  <a:lnTo>
                    <a:pt x="5493638" y="45338"/>
                  </a:lnTo>
                  <a:lnTo>
                    <a:pt x="5605271" y="45338"/>
                  </a:lnTo>
                  <a:lnTo>
                    <a:pt x="5605271" y="1045463"/>
                  </a:lnTo>
                  <a:close/>
                </a:path>
              </a:pathLst>
            </a:custGeom>
            <a:solidFill>
              <a:srgbClr val="000000">
                <a:alpha val="783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6172199" y="1581149"/>
              <a:ext cx="5495925" cy="1019175"/>
            </a:xfrm>
            <a:custGeom>
              <a:avLst/>
              <a:gdLst/>
              <a:ahLst/>
              <a:cxnLst/>
              <a:rect l="l" t="t" r="r" b="b"/>
              <a:pathLst>
                <a:path w="5495925" h="1019175">
                  <a:moveTo>
                    <a:pt x="5442526" y="1019174"/>
                  </a:moveTo>
                  <a:lnTo>
                    <a:pt x="53397" y="1019174"/>
                  </a:lnTo>
                  <a:lnTo>
                    <a:pt x="49680" y="1018808"/>
                  </a:lnTo>
                  <a:lnTo>
                    <a:pt x="14084" y="999782"/>
                  </a:lnTo>
                  <a:lnTo>
                    <a:pt x="0" y="965777"/>
                  </a:lnTo>
                  <a:lnTo>
                    <a:pt x="0" y="962024"/>
                  </a:lnTo>
                  <a:lnTo>
                    <a:pt x="0" y="53397"/>
                  </a:lnTo>
                  <a:lnTo>
                    <a:pt x="19391" y="14085"/>
                  </a:lnTo>
                  <a:lnTo>
                    <a:pt x="53397" y="0"/>
                  </a:lnTo>
                  <a:lnTo>
                    <a:pt x="5442526" y="0"/>
                  </a:lnTo>
                  <a:lnTo>
                    <a:pt x="5481838" y="19392"/>
                  </a:lnTo>
                  <a:lnTo>
                    <a:pt x="5495924" y="53397"/>
                  </a:lnTo>
                  <a:lnTo>
                    <a:pt x="5495924" y="965777"/>
                  </a:lnTo>
                  <a:lnTo>
                    <a:pt x="5476530" y="1005089"/>
                  </a:lnTo>
                  <a:lnTo>
                    <a:pt x="5446242" y="1018808"/>
                  </a:lnTo>
                  <a:lnTo>
                    <a:pt x="5442526" y="101917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5" name="object 35"/>
          <p:cNvGrpSpPr/>
          <p:nvPr/>
        </p:nvGrpSpPr>
        <p:grpSpPr>
          <a:xfrm>
            <a:off x="6181724" y="1581149"/>
            <a:ext cx="2686050" cy="1019175"/>
            <a:chOff x="6181724" y="1581149"/>
            <a:chExt cx="2686050" cy="1019175"/>
          </a:xfrm>
        </p:grpSpPr>
        <p:pic>
          <p:nvPicPr>
            <p:cNvPr id="36" name="object 3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181724" y="1581149"/>
              <a:ext cx="2686049" cy="238124"/>
            </a:xfrm>
            <a:prstGeom prst="rect">
              <a:avLst/>
            </a:prstGeom>
          </p:spPr>
        </p:pic>
        <p:sp>
          <p:nvSpPr>
            <p:cNvPr id="37" name="object 37"/>
            <p:cNvSpPr/>
            <p:nvPr/>
          </p:nvSpPr>
          <p:spPr>
            <a:xfrm>
              <a:off x="6181712" y="1819274"/>
              <a:ext cx="2686050" cy="781050"/>
            </a:xfrm>
            <a:custGeom>
              <a:avLst/>
              <a:gdLst/>
              <a:ahLst/>
              <a:cxnLst/>
              <a:rect l="l" t="t" r="r" b="b"/>
              <a:pathLst>
                <a:path w="2686050" h="781050">
                  <a:moveTo>
                    <a:pt x="2686050" y="0"/>
                  </a:moveTo>
                  <a:lnTo>
                    <a:pt x="2686050" y="0"/>
                  </a:lnTo>
                  <a:lnTo>
                    <a:pt x="0" y="0"/>
                  </a:lnTo>
                  <a:lnTo>
                    <a:pt x="0" y="266700"/>
                  </a:lnTo>
                  <a:lnTo>
                    <a:pt x="0" y="523875"/>
                  </a:lnTo>
                  <a:lnTo>
                    <a:pt x="0" y="756183"/>
                  </a:lnTo>
                  <a:lnTo>
                    <a:pt x="1854" y="758952"/>
                  </a:lnTo>
                  <a:lnTo>
                    <a:pt x="12573" y="769670"/>
                  </a:lnTo>
                  <a:lnTo>
                    <a:pt x="18757" y="773811"/>
                  </a:lnTo>
                  <a:lnTo>
                    <a:pt x="32766" y="779602"/>
                  </a:lnTo>
                  <a:lnTo>
                    <a:pt x="40055" y="781050"/>
                  </a:lnTo>
                  <a:lnTo>
                    <a:pt x="476250" y="781050"/>
                  </a:lnTo>
                  <a:lnTo>
                    <a:pt x="1047750" y="781050"/>
                  </a:lnTo>
                  <a:lnTo>
                    <a:pt x="1666875" y="781050"/>
                  </a:lnTo>
                  <a:lnTo>
                    <a:pt x="2190750" y="781050"/>
                  </a:lnTo>
                  <a:lnTo>
                    <a:pt x="2686050" y="781050"/>
                  </a:lnTo>
                  <a:lnTo>
                    <a:pt x="2686050" y="523875"/>
                  </a:lnTo>
                  <a:lnTo>
                    <a:pt x="2686050" y="266700"/>
                  </a:lnTo>
                  <a:lnTo>
                    <a:pt x="26860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8" name="object 3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915274" y="1866899"/>
              <a:ext cx="333374" cy="171449"/>
            </a:xfrm>
            <a:prstGeom prst="rect">
              <a:avLst/>
            </a:prstGeom>
          </p:spPr>
        </p:pic>
        <p:pic>
          <p:nvPicPr>
            <p:cNvPr id="39" name="object 3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915274" y="2124074"/>
              <a:ext cx="333374" cy="180974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915274" y="2390774"/>
              <a:ext cx="333374" cy="171449"/>
            </a:xfrm>
            <a:prstGeom prst="rect">
              <a:avLst/>
            </a:prstGeom>
          </p:spPr>
        </p:pic>
      </p:grpSp>
      <p:graphicFrame>
        <p:nvGraphicFramePr>
          <p:cNvPr id="41" name="object 41"/>
          <p:cNvGraphicFramePr>
            <a:graphicFrameLocks noGrp="1"/>
          </p:cNvGraphicFramePr>
          <p:nvPr/>
        </p:nvGraphicFramePr>
        <p:xfrm>
          <a:off x="6172199" y="1581149"/>
          <a:ext cx="2686050" cy="9874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7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1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57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7490"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900" b="1" spc="-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Task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99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900" b="1" spc="-1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0%</a:t>
                      </a:r>
                      <a:r>
                        <a:rPr sz="900" b="1" spc="-3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b="1" spc="-3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Replay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318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900" b="1" spc="-9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10%</a:t>
                      </a:r>
                      <a:r>
                        <a:rPr sz="900" b="1" spc="-4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b="1" spc="-3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Replay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9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Recovery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191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900" b="1" spc="-4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Baseline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540"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050" b="1" spc="-90" dirty="0">
                          <a:solidFill>
                            <a:srgbClr val="0E1729"/>
                          </a:solidFill>
                          <a:latin typeface="Arial"/>
                          <a:cs typeface="Arial"/>
                        </a:rPr>
                        <a:t>SST-</a:t>
                      </a:r>
                      <a:r>
                        <a:rPr sz="1050" b="1" spc="-50" dirty="0">
                          <a:solidFill>
                            <a:srgbClr val="0E1729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99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1000" spc="-1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101.0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84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318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950" b="1" spc="-20" dirty="0">
                          <a:solidFill>
                            <a:srgbClr val="0FB981"/>
                          </a:solidFill>
                          <a:latin typeface="Trebuchet MS"/>
                          <a:cs typeface="Trebuchet MS"/>
                        </a:rPr>
                        <a:t>36.4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3619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900" b="1" spc="-25" dirty="0">
                          <a:solidFill>
                            <a:srgbClr val="055E45"/>
                          </a:solidFill>
                          <a:latin typeface="Arial"/>
                          <a:cs typeface="Arial"/>
                        </a:rPr>
                        <a:t>64%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4254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191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1000" spc="-2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48.9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84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065"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050" b="1" spc="-20" dirty="0">
                          <a:solidFill>
                            <a:srgbClr val="0E1729"/>
                          </a:solidFill>
                          <a:latin typeface="Arial"/>
                          <a:cs typeface="Arial"/>
                        </a:rPr>
                        <a:t>SNLI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99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000" spc="-1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123.0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7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3180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950" b="1" spc="-20" dirty="0">
                          <a:solidFill>
                            <a:srgbClr val="0FB981"/>
                          </a:solidFill>
                          <a:latin typeface="Trebuchet MS"/>
                          <a:cs typeface="Trebuchet MS"/>
                        </a:rPr>
                        <a:t>36.6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900" b="1" spc="-25" dirty="0">
                          <a:solidFill>
                            <a:srgbClr val="055E45"/>
                          </a:solidFill>
                          <a:latin typeface="Arial"/>
                          <a:cs typeface="Arial"/>
                        </a:rPr>
                        <a:t>70%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4254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191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000" spc="-2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48.9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7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329"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1050" b="1" spc="-70" dirty="0">
                          <a:solidFill>
                            <a:srgbClr val="0E1729"/>
                          </a:solidFill>
                          <a:latin typeface="Arial"/>
                          <a:cs typeface="Arial"/>
                        </a:rPr>
                        <a:t>SQuAD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2349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4699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1000" spc="-2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52.6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84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4318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950" b="1" spc="-20" dirty="0">
                          <a:solidFill>
                            <a:srgbClr val="0FB981"/>
                          </a:solidFill>
                          <a:latin typeface="Trebuchet MS"/>
                          <a:cs typeface="Trebuchet MS"/>
                        </a:rPr>
                        <a:t>34.7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3619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900" b="1" spc="-25" dirty="0">
                          <a:solidFill>
                            <a:srgbClr val="1D3A8A"/>
                          </a:solidFill>
                          <a:latin typeface="Arial"/>
                          <a:cs typeface="Arial"/>
                        </a:rPr>
                        <a:t>34%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4254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4191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1000" spc="-2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48.9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84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2" name="object 42"/>
          <p:cNvSpPr txBox="1"/>
          <p:nvPr/>
        </p:nvSpPr>
        <p:spPr>
          <a:xfrm>
            <a:off x="6159499" y="1099257"/>
            <a:ext cx="3101340" cy="436880"/>
          </a:xfrm>
          <a:prstGeom prst="rect">
            <a:avLst/>
          </a:prstGeom>
        </p:spPr>
        <p:txBody>
          <a:bodyPr vert="horz" wrap="square" lIns="0" tIns="501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95"/>
              </a:spcBef>
            </a:pPr>
            <a:r>
              <a:rPr sz="1150" b="1" spc="-100" dirty="0">
                <a:solidFill>
                  <a:srgbClr val="2562EB"/>
                </a:solidFill>
                <a:latin typeface="Arial"/>
                <a:cs typeface="Arial"/>
              </a:rPr>
              <a:t>Phase</a:t>
            </a:r>
            <a:r>
              <a:rPr sz="1150" b="1" spc="-30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75" dirty="0">
                <a:solidFill>
                  <a:srgbClr val="2562EB"/>
                </a:solidFill>
                <a:latin typeface="Arial"/>
                <a:cs typeface="Arial"/>
              </a:rPr>
              <a:t>2:</a:t>
            </a:r>
            <a:r>
              <a:rPr sz="1150" b="1" spc="-30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95" dirty="0">
                <a:solidFill>
                  <a:srgbClr val="2562EB"/>
                </a:solidFill>
                <a:latin typeface="Arial"/>
                <a:cs typeface="Arial"/>
              </a:rPr>
              <a:t>Cross-</a:t>
            </a:r>
            <a:r>
              <a:rPr sz="1150" b="1" spc="-105" dirty="0">
                <a:solidFill>
                  <a:srgbClr val="2562EB"/>
                </a:solidFill>
                <a:latin typeface="Arial"/>
                <a:cs typeface="Arial"/>
              </a:rPr>
              <a:t>Task</a:t>
            </a:r>
            <a:r>
              <a:rPr sz="1150" b="1" spc="-30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10" dirty="0">
                <a:solidFill>
                  <a:srgbClr val="2562EB"/>
                </a:solidFill>
                <a:latin typeface="Arial"/>
                <a:cs typeface="Arial"/>
              </a:rPr>
              <a:t>Generalization</a:t>
            </a:r>
            <a:endParaRPr sz="11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95"/>
              </a:spcBef>
            </a:pPr>
            <a:r>
              <a:rPr sz="1050" b="1" spc="-70" dirty="0">
                <a:solidFill>
                  <a:srgbClr val="0E1729"/>
                </a:solidFill>
                <a:latin typeface="Arial"/>
                <a:cs typeface="Arial"/>
              </a:rPr>
              <a:t>Testing</a:t>
            </a:r>
            <a:r>
              <a:rPr sz="1050" b="1" spc="-3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100" dirty="0">
                <a:solidFill>
                  <a:srgbClr val="0E1729"/>
                </a:solidFill>
                <a:latin typeface="Arial"/>
                <a:cs typeface="Arial"/>
              </a:rPr>
              <a:t>10%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85" dirty="0">
                <a:solidFill>
                  <a:srgbClr val="0E1729"/>
                </a:solidFill>
                <a:latin typeface="Arial"/>
                <a:cs typeface="Arial"/>
              </a:rPr>
              <a:t>Replay</a:t>
            </a:r>
            <a:r>
              <a:rPr sz="1050" b="1" spc="-3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100" dirty="0">
                <a:solidFill>
                  <a:srgbClr val="0E1729"/>
                </a:solidFill>
                <a:latin typeface="Arial"/>
                <a:cs typeface="Arial"/>
              </a:rPr>
              <a:t>on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75" dirty="0">
                <a:solidFill>
                  <a:srgbClr val="0E1729"/>
                </a:solidFill>
                <a:latin typeface="Arial"/>
                <a:cs typeface="Arial"/>
              </a:rPr>
              <a:t>SNLI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130" dirty="0">
                <a:solidFill>
                  <a:srgbClr val="0E1729"/>
                </a:solidFill>
                <a:latin typeface="Arial"/>
                <a:cs typeface="Arial"/>
              </a:rPr>
              <a:t>&amp;</a:t>
            </a:r>
            <a:r>
              <a:rPr sz="1050" b="1" spc="-3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120" dirty="0">
                <a:solidFill>
                  <a:srgbClr val="0E1729"/>
                </a:solidFill>
                <a:latin typeface="Arial"/>
                <a:cs typeface="Arial"/>
              </a:rPr>
              <a:t>SQuAD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80" dirty="0">
                <a:solidFill>
                  <a:srgbClr val="0E1729"/>
                </a:solidFill>
                <a:latin typeface="Arial"/>
                <a:cs typeface="Arial"/>
              </a:rPr>
              <a:t>(GPT-</a:t>
            </a:r>
            <a:r>
              <a:rPr sz="1050" b="1" spc="-30" dirty="0">
                <a:solidFill>
                  <a:srgbClr val="0E1729"/>
                </a:solidFill>
                <a:latin typeface="Arial"/>
                <a:cs typeface="Arial"/>
              </a:rPr>
              <a:t>2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50" dirty="0">
                <a:solidFill>
                  <a:srgbClr val="0E1729"/>
                </a:solidFill>
                <a:latin typeface="Arial"/>
                <a:cs typeface="Arial"/>
              </a:rPr>
              <a:t>Medium):</a:t>
            </a:r>
            <a:endParaRPr sz="1050">
              <a:latin typeface="Arial"/>
              <a:cs typeface="Arial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6159499" y="2795119"/>
            <a:ext cx="5454015" cy="1148715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00"/>
              </a:spcBef>
            </a:pPr>
            <a:r>
              <a:rPr sz="1150" b="1" spc="-130" dirty="0">
                <a:solidFill>
                  <a:srgbClr val="2562EB"/>
                </a:solidFill>
                <a:latin typeface="Arial"/>
                <a:cs typeface="Arial"/>
              </a:rPr>
              <a:t>Key</a:t>
            </a:r>
            <a:r>
              <a:rPr sz="1150" b="1" spc="-60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20" dirty="0">
                <a:solidFill>
                  <a:srgbClr val="2562EB"/>
                </a:solidFill>
                <a:latin typeface="Arial"/>
                <a:cs typeface="Arial"/>
              </a:rPr>
              <a:t>Observations</a:t>
            </a:r>
            <a:endParaRPr sz="1150" dirty="0">
              <a:latin typeface="Arial"/>
              <a:cs typeface="Arial"/>
            </a:endParaRPr>
          </a:p>
          <a:p>
            <a:pPr marL="12700" marR="139065">
              <a:lnSpc>
                <a:spcPct val="108000"/>
              </a:lnSpc>
              <a:spcBef>
                <a:spcPts val="65"/>
              </a:spcBef>
            </a:pPr>
            <a:r>
              <a:rPr sz="1050" b="1" spc="-85" dirty="0">
                <a:solidFill>
                  <a:srgbClr val="0E1729"/>
                </a:solidFill>
                <a:latin typeface="Arial"/>
                <a:cs typeface="Arial"/>
              </a:rPr>
              <a:t>Consistency:</a:t>
            </a:r>
            <a:r>
              <a:rPr sz="1050" b="1" spc="-1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34-</a:t>
            </a:r>
            <a:r>
              <a:rPr sz="1100" spc="-135" dirty="0">
                <a:solidFill>
                  <a:srgbClr val="465469"/>
                </a:solidFill>
                <a:latin typeface="Arial"/>
                <a:cs typeface="Arial"/>
              </a:rPr>
              <a:t>70%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recovery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across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tasks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•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5" dirty="0">
                <a:solidFill>
                  <a:srgbClr val="465469"/>
                </a:solidFill>
                <a:latin typeface="Arial"/>
                <a:cs typeface="Arial"/>
              </a:rPr>
              <a:t>SNLI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has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worst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forgetting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(123.0)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but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best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recovery </a:t>
            </a:r>
            <a:r>
              <a:rPr sz="1100" spc="-95" dirty="0">
                <a:solidFill>
                  <a:srgbClr val="465469"/>
                </a:solidFill>
                <a:latin typeface="Arial"/>
                <a:cs typeface="Arial"/>
              </a:rPr>
              <a:t>(70%)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•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45" dirty="0">
                <a:solidFill>
                  <a:srgbClr val="465469"/>
                </a:solidFill>
                <a:latin typeface="Arial"/>
                <a:cs typeface="Arial"/>
              </a:rPr>
              <a:t>SQuAD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least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affected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5" dirty="0">
                <a:solidFill>
                  <a:srgbClr val="465469"/>
                </a:solidFill>
                <a:latin typeface="Arial"/>
                <a:cs typeface="Arial"/>
              </a:rPr>
              <a:t>by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forgetting</a:t>
            </a:r>
            <a:endParaRPr sz="1100" dirty="0">
              <a:latin typeface="Arial"/>
              <a:cs typeface="Arial"/>
            </a:endParaRPr>
          </a:p>
          <a:p>
            <a:pPr marL="12700" marR="5080">
              <a:lnSpc>
                <a:spcPct val="102299"/>
              </a:lnSpc>
              <a:spcBef>
                <a:spcPts val="150"/>
              </a:spcBef>
            </a:pPr>
            <a:r>
              <a:rPr sz="1050" b="1" spc="-100" dirty="0">
                <a:solidFill>
                  <a:srgbClr val="0E1729"/>
                </a:solidFill>
                <a:latin typeface="Arial"/>
                <a:cs typeface="Arial"/>
              </a:rPr>
              <a:t>10%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85" dirty="0">
                <a:solidFill>
                  <a:srgbClr val="0E1729"/>
                </a:solidFill>
                <a:latin typeface="Arial"/>
                <a:cs typeface="Arial"/>
              </a:rPr>
              <a:t>Replay</a:t>
            </a:r>
            <a:r>
              <a:rPr sz="1050" b="1" spc="-2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60" dirty="0">
                <a:solidFill>
                  <a:srgbClr val="0E1729"/>
                </a:solidFill>
                <a:latin typeface="Arial"/>
                <a:cs typeface="Arial"/>
              </a:rPr>
              <a:t>Effect:</a:t>
            </a:r>
            <a:r>
              <a:rPr sz="1050" b="1" spc="-2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All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tasks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achieve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14" dirty="0">
                <a:solidFill>
                  <a:srgbClr val="465469"/>
                </a:solidFill>
                <a:latin typeface="Arial"/>
                <a:cs typeface="Arial"/>
              </a:rPr>
              <a:t>PPL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near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baseline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(34-</a:t>
            </a: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37)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•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Better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than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pre-</a:t>
            </a: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trained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baseline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on </a:t>
            </a:r>
            <a:r>
              <a:rPr sz="1100" spc="-165" dirty="0">
                <a:solidFill>
                  <a:srgbClr val="465469"/>
                </a:solidFill>
                <a:latin typeface="Arial"/>
                <a:cs typeface="Arial"/>
              </a:rPr>
              <a:t>SST-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2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40" dirty="0">
                <a:solidFill>
                  <a:srgbClr val="465469"/>
                </a:solidFill>
                <a:latin typeface="Arial"/>
                <a:cs typeface="Arial"/>
              </a:rPr>
              <a:t>&amp;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5" dirty="0">
                <a:solidFill>
                  <a:srgbClr val="465469"/>
                </a:solidFill>
                <a:latin typeface="Arial"/>
                <a:cs typeface="Arial"/>
              </a:rPr>
              <a:t>SNLI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•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Minimal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overhead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465469"/>
                </a:solidFill>
                <a:latin typeface="Arial"/>
                <a:cs typeface="Arial"/>
              </a:rPr>
              <a:t>for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strong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protection</a:t>
            </a:r>
            <a:endParaRPr sz="11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1050" b="1" spc="-75" dirty="0">
                <a:solidFill>
                  <a:srgbClr val="0E1729"/>
                </a:solidFill>
                <a:latin typeface="Arial"/>
                <a:cs typeface="Arial"/>
              </a:rPr>
              <a:t>Efficiency:</a:t>
            </a:r>
            <a:r>
              <a:rPr sz="1050" b="1" spc="-1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Adapters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use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only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90" dirty="0">
                <a:solidFill>
                  <a:srgbClr val="465469"/>
                </a:solidFill>
                <a:latin typeface="Arial"/>
                <a:cs typeface="Arial"/>
              </a:rPr>
              <a:t>64K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parameters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rgbClr val="465469"/>
                </a:solidFill>
                <a:latin typeface="Arial"/>
                <a:cs typeface="Arial"/>
              </a:rPr>
              <a:t>(0.02%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465469"/>
                </a:solidFill>
                <a:latin typeface="Arial"/>
                <a:cs typeface="Arial"/>
              </a:rPr>
              <a:t>of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base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model)</a:t>
            </a:r>
            <a:endParaRPr sz="1100" dirty="0">
              <a:latin typeface="Arial"/>
              <a:cs typeface="Arial"/>
            </a:endParaRPr>
          </a:p>
        </p:txBody>
      </p:sp>
      <p:pic>
        <p:nvPicPr>
          <p:cNvPr id="44" name="object 4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2092818" y="4439270"/>
            <a:ext cx="8009572" cy="237048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23874" y="1933574"/>
            <a:ext cx="11144250" cy="28575"/>
          </a:xfrm>
          <a:custGeom>
            <a:avLst/>
            <a:gdLst/>
            <a:ahLst/>
            <a:cxnLst/>
            <a:rect l="l" t="t" r="r" b="b"/>
            <a:pathLst>
              <a:path w="11144250" h="28575">
                <a:moveTo>
                  <a:pt x="11144249" y="28574"/>
                </a:moveTo>
                <a:lnTo>
                  <a:pt x="0" y="28574"/>
                </a:lnTo>
                <a:lnTo>
                  <a:pt x="0" y="0"/>
                </a:lnTo>
                <a:lnTo>
                  <a:pt x="11144249" y="0"/>
                </a:lnTo>
                <a:lnTo>
                  <a:pt x="11144249" y="28574"/>
                </a:lnTo>
                <a:close/>
              </a:path>
            </a:pathLst>
          </a:custGeom>
          <a:solidFill>
            <a:srgbClr val="3B81F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pc="-180" dirty="0"/>
              <a:t>Analysis:</a:t>
            </a:r>
            <a:r>
              <a:rPr spc="-165" dirty="0"/>
              <a:t> </a:t>
            </a:r>
            <a:r>
              <a:rPr spc="-175" dirty="0"/>
              <a:t>Replay</a:t>
            </a:r>
            <a:r>
              <a:rPr spc="-165" dirty="0"/>
              <a:t> </a:t>
            </a:r>
            <a:r>
              <a:rPr spc="-150" dirty="0"/>
              <a:t>Mechanism</a:t>
            </a:r>
            <a:r>
              <a:rPr spc="-165" dirty="0"/>
              <a:t> </a:t>
            </a:r>
            <a:r>
              <a:rPr spc="-415" dirty="0"/>
              <a:t>&amp;</a:t>
            </a:r>
            <a:r>
              <a:rPr spc="-165" dirty="0"/>
              <a:t> </a:t>
            </a:r>
            <a:r>
              <a:rPr spc="-140" dirty="0"/>
              <a:t>Practical</a:t>
            </a:r>
            <a:r>
              <a:rPr spc="-165" dirty="0"/>
              <a:t> </a:t>
            </a:r>
            <a:r>
              <a:rPr spc="-105" dirty="0"/>
              <a:t>Implications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523874" y="2333624"/>
            <a:ext cx="5495925" cy="1038225"/>
            <a:chOff x="523874" y="2333624"/>
            <a:chExt cx="5495925" cy="103822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61974" y="2333624"/>
              <a:ext cx="5457824" cy="1038224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23874" y="2333624"/>
              <a:ext cx="52069" cy="1038225"/>
            </a:xfrm>
            <a:custGeom>
              <a:avLst/>
              <a:gdLst/>
              <a:ahLst/>
              <a:cxnLst/>
              <a:rect l="l" t="t" r="r" b="b"/>
              <a:pathLst>
                <a:path w="52070" h="1038225">
                  <a:moveTo>
                    <a:pt x="51889" y="1038224"/>
                  </a:moveTo>
                  <a:lnTo>
                    <a:pt x="49571" y="1038224"/>
                  </a:lnTo>
                  <a:lnTo>
                    <a:pt x="42281" y="1036774"/>
                  </a:lnTo>
                  <a:lnTo>
                    <a:pt x="7250" y="1009946"/>
                  </a:lnTo>
                  <a:lnTo>
                    <a:pt x="0" y="988653"/>
                  </a:lnTo>
                  <a:lnTo>
                    <a:pt x="0" y="49571"/>
                  </a:lnTo>
                  <a:lnTo>
                    <a:pt x="22097" y="11379"/>
                  </a:lnTo>
                  <a:lnTo>
                    <a:pt x="49571" y="0"/>
                  </a:lnTo>
                  <a:lnTo>
                    <a:pt x="51889" y="0"/>
                  </a:lnTo>
                  <a:lnTo>
                    <a:pt x="47399" y="5579"/>
                  </a:lnTo>
                  <a:lnTo>
                    <a:pt x="43679" y="16738"/>
                  </a:lnTo>
                  <a:lnTo>
                    <a:pt x="41238" y="25541"/>
                  </a:lnTo>
                  <a:lnTo>
                    <a:pt x="39494" y="35211"/>
                  </a:lnTo>
                  <a:lnTo>
                    <a:pt x="38448" y="45747"/>
                  </a:lnTo>
                  <a:lnTo>
                    <a:pt x="38100" y="57150"/>
                  </a:lnTo>
                  <a:lnTo>
                    <a:pt x="38100" y="981075"/>
                  </a:lnTo>
                  <a:lnTo>
                    <a:pt x="43679" y="1021485"/>
                  </a:lnTo>
                  <a:lnTo>
                    <a:pt x="47399" y="1032645"/>
                  </a:lnTo>
                  <a:lnTo>
                    <a:pt x="51889" y="1038224"/>
                  </a:lnTo>
                  <a:close/>
                </a:path>
              </a:pathLst>
            </a:custGeom>
            <a:solidFill>
              <a:srgbClr val="60A5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469391" y="3602735"/>
            <a:ext cx="5605780" cy="1127760"/>
            <a:chOff x="469391" y="3602735"/>
            <a:chExt cx="5605780" cy="1127760"/>
          </a:xfrm>
        </p:grpSpPr>
        <p:sp>
          <p:nvSpPr>
            <p:cNvPr id="8" name="object 8"/>
            <p:cNvSpPr/>
            <p:nvPr/>
          </p:nvSpPr>
          <p:spPr>
            <a:xfrm>
              <a:off x="469391" y="3602735"/>
              <a:ext cx="5605780" cy="1127760"/>
            </a:xfrm>
            <a:custGeom>
              <a:avLst/>
              <a:gdLst/>
              <a:ahLst/>
              <a:cxnLst/>
              <a:rect l="l" t="t" r="r" b="b"/>
              <a:pathLst>
                <a:path w="5605780" h="1127760">
                  <a:moveTo>
                    <a:pt x="5605271" y="1127759"/>
                  </a:moveTo>
                  <a:lnTo>
                    <a:pt x="0" y="1127759"/>
                  </a:lnTo>
                  <a:lnTo>
                    <a:pt x="0" y="0"/>
                  </a:lnTo>
                  <a:lnTo>
                    <a:pt x="5605271" y="0"/>
                  </a:lnTo>
                  <a:lnTo>
                    <a:pt x="5605271" y="45338"/>
                  </a:lnTo>
                  <a:lnTo>
                    <a:pt x="111632" y="45338"/>
                  </a:lnTo>
                  <a:lnTo>
                    <a:pt x="102130" y="46210"/>
                  </a:lnTo>
                  <a:lnTo>
                    <a:pt x="67495" y="74681"/>
                  </a:lnTo>
                  <a:lnTo>
                    <a:pt x="64007" y="92963"/>
                  </a:lnTo>
                  <a:lnTo>
                    <a:pt x="64007" y="997838"/>
                  </a:lnTo>
                  <a:lnTo>
                    <a:pt x="85292" y="1037617"/>
                  </a:lnTo>
                  <a:lnTo>
                    <a:pt x="111632" y="1045463"/>
                  </a:lnTo>
                  <a:lnTo>
                    <a:pt x="5605271" y="1045463"/>
                  </a:lnTo>
                  <a:lnTo>
                    <a:pt x="5605271" y="1127759"/>
                  </a:lnTo>
                  <a:close/>
                </a:path>
                <a:path w="5605780" h="1127760">
                  <a:moveTo>
                    <a:pt x="5605271" y="1045463"/>
                  </a:moveTo>
                  <a:lnTo>
                    <a:pt x="5493257" y="1045463"/>
                  </a:lnTo>
                  <a:lnTo>
                    <a:pt x="5502759" y="1044591"/>
                  </a:lnTo>
                  <a:lnTo>
                    <a:pt x="5511539" y="1041976"/>
                  </a:lnTo>
                  <a:lnTo>
                    <a:pt x="5540010" y="1007341"/>
                  </a:lnTo>
                  <a:lnTo>
                    <a:pt x="5540882" y="997838"/>
                  </a:lnTo>
                  <a:lnTo>
                    <a:pt x="5540882" y="92963"/>
                  </a:lnTo>
                  <a:lnTo>
                    <a:pt x="5519597" y="53184"/>
                  </a:lnTo>
                  <a:lnTo>
                    <a:pt x="5493257" y="45338"/>
                  </a:lnTo>
                  <a:lnTo>
                    <a:pt x="5605271" y="45338"/>
                  </a:lnTo>
                  <a:lnTo>
                    <a:pt x="5605271" y="1045463"/>
                  </a:lnTo>
                  <a:close/>
                </a:path>
              </a:pathLst>
            </a:custGeom>
            <a:solidFill>
              <a:srgbClr val="000000">
                <a:alpha val="783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23874" y="3638550"/>
              <a:ext cx="5495925" cy="1019175"/>
            </a:xfrm>
            <a:custGeom>
              <a:avLst/>
              <a:gdLst/>
              <a:ahLst/>
              <a:cxnLst/>
              <a:rect l="l" t="t" r="r" b="b"/>
              <a:pathLst>
                <a:path w="5495925" h="1019175">
                  <a:moveTo>
                    <a:pt x="5442527" y="1019174"/>
                  </a:moveTo>
                  <a:lnTo>
                    <a:pt x="53397" y="1019174"/>
                  </a:lnTo>
                  <a:lnTo>
                    <a:pt x="49681" y="1018808"/>
                  </a:lnTo>
                  <a:lnTo>
                    <a:pt x="14085" y="999781"/>
                  </a:lnTo>
                  <a:lnTo>
                    <a:pt x="0" y="965777"/>
                  </a:lnTo>
                  <a:lnTo>
                    <a:pt x="0" y="962024"/>
                  </a:lnTo>
                  <a:lnTo>
                    <a:pt x="0" y="53397"/>
                  </a:lnTo>
                  <a:lnTo>
                    <a:pt x="19392" y="14084"/>
                  </a:lnTo>
                  <a:lnTo>
                    <a:pt x="53397" y="0"/>
                  </a:lnTo>
                  <a:lnTo>
                    <a:pt x="5442527" y="0"/>
                  </a:lnTo>
                  <a:lnTo>
                    <a:pt x="5481838" y="19391"/>
                  </a:lnTo>
                  <a:lnTo>
                    <a:pt x="5495924" y="53397"/>
                  </a:lnTo>
                  <a:lnTo>
                    <a:pt x="5495924" y="965777"/>
                  </a:lnTo>
                  <a:lnTo>
                    <a:pt x="5476532" y="1005088"/>
                  </a:lnTo>
                  <a:lnTo>
                    <a:pt x="5446243" y="1018808"/>
                  </a:lnTo>
                  <a:lnTo>
                    <a:pt x="5442527" y="101917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533399" y="3638549"/>
            <a:ext cx="2819400" cy="1019175"/>
            <a:chOff x="533399" y="3638549"/>
            <a:chExt cx="2819400" cy="1019175"/>
          </a:xfrm>
        </p:grpSpPr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33399" y="3638549"/>
              <a:ext cx="2819399" cy="247649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533387" y="3886199"/>
              <a:ext cx="2819400" cy="771525"/>
            </a:xfrm>
            <a:custGeom>
              <a:avLst/>
              <a:gdLst/>
              <a:ahLst/>
              <a:cxnLst/>
              <a:rect l="l" t="t" r="r" b="b"/>
              <a:pathLst>
                <a:path w="2819400" h="771525">
                  <a:moveTo>
                    <a:pt x="2819400" y="0"/>
                  </a:moveTo>
                  <a:lnTo>
                    <a:pt x="2000250" y="0"/>
                  </a:lnTo>
                  <a:lnTo>
                    <a:pt x="1171575" y="0"/>
                  </a:lnTo>
                  <a:lnTo>
                    <a:pt x="438150" y="0"/>
                  </a:lnTo>
                  <a:lnTo>
                    <a:pt x="0" y="0"/>
                  </a:lnTo>
                  <a:lnTo>
                    <a:pt x="0" y="257175"/>
                  </a:lnTo>
                  <a:lnTo>
                    <a:pt x="0" y="514350"/>
                  </a:lnTo>
                  <a:lnTo>
                    <a:pt x="0" y="746658"/>
                  </a:lnTo>
                  <a:lnTo>
                    <a:pt x="1866" y="749427"/>
                  </a:lnTo>
                  <a:lnTo>
                    <a:pt x="12573" y="760145"/>
                  </a:lnTo>
                  <a:lnTo>
                    <a:pt x="18757" y="764273"/>
                  </a:lnTo>
                  <a:lnTo>
                    <a:pt x="32766" y="770077"/>
                  </a:lnTo>
                  <a:lnTo>
                    <a:pt x="40055" y="771525"/>
                  </a:lnTo>
                  <a:lnTo>
                    <a:pt x="438150" y="771525"/>
                  </a:lnTo>
                  <a:lnTo>
                    <a:pt x="1171575" y="771525"/>
                  </a:lnTo>
                  <a:lnTo>
                    <a:pt x="2000250" y="771525"/>
                  </a:lnTo>
                  <a:lnTo>
                    <a:pt x="2819400" y="771525"/>
                  </a:lnTo>
                  <a:lnTo>
                    <a:pt x="2819400" y="514350"/>
                  </a:lnTo>
                  <a:lnTo>
                    <a:pt x="2819400" y="257175"/>
                  </a:lnTo>
                  <a:lnTo>
                    <a:pt x="28194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71649" y="3924299"/>
              <a:ext cx="333374" cy="171449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590799" y="3924299"/>
              <a:ext cx="333374" cy="171449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771649" y="4181474"/>
              <a:ext cx="333374" cy="180974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590799" y="4181474"/>
              <a:ext cx="333374" cy="180974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771649" y="4448174"/>
              <a:ext cx="333374" cy="171449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590799" y="4448174"/>
              <a:ext cx="333374" cy="171449"/>
            </a:xfrm>
            <a:prstGeom prst="rect">
              <a:avLst/>
            </a:prstGeom>
          </p:spPr>
        </p:pic>
      </p:grpSp>
      <p:graphicFrame>
        <p:nvGraphicFramePr>
          <p:cNvPr id="19" name="object 19"/>
          <p:cNvGraphicFramePr>
            <a:graphicFrameLocks noGrp="1"/>
          </p:cNvGraphicFramePr>
          <p:nvPr/>
        </p:nvGraphicFramePr>
        <p:xfrm>
          <a:off x="523874" y="3638549"/>
          <a:ext cx="2819400" cy="9874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3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9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9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7490"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900" b="1" spc="-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Task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0005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900" b="1" spc="-1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0%</a:t>
                      </a:r>
                      <a:r>
                        <a:rPr sz="900" b="1" spc="-3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b="1" spc="-4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Forgetting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900" b="1" spc="-9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Recovery</a:t>
                      </a:r>
                      <a:r>
                        <a:rPr sz="900" b="1" spc="1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(10%)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3815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900" b="1" spc="-9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Recovery</a:t>
                      </a:r>
                      <a:r>
                        <a:rPr sz="900" b="1" spc="1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(20%)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540"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1000" spc="-14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SST-</a:t>
                      </a:r>
                      <a:r>
                        <a:rPr sz="1000" spc="-5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84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000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1000" spc="-1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+106%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84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8270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900" b="1" spc="-25" dirty="0">
                          <a:solidFill>
                            <a:srgbClr val="055E45"/>
                          </a:solidFill>
                          <a:latin typeface="Arial"/>
                          <a:cs typeface="Arial"/>
                        </a:rPr>
                        <a:t>64%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4254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9539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900" b="1" spc="-25" dirty="0">
                          <a:solidFill>
                            <a:srgbClr val="055E45"/>
                          </a:solidFill>
                          <a:latin typeface="Arial"/>
                          <a:cs typeface="Arial"/>
                        </a:rPr>
                        <a:t>67%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4254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065"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000" spc="-2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SNLI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7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000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000" spc="-1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+151%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7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8270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900" b="1" spc="-25" dirty="0">
                          <a:solidFill>
                            <a:srgbClr val="055E45"/>
                          </a:solidFill>
                          <a:latin typeface="Arial"/>
                          <a:cs typeface="Arial"/>
                        </a:rPr>
                        <a:t>70%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4254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9539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900" b="1" spc="-25" dirty="0">
                          <a:solidFill>
                            <a:srgbClr val="055E45"/>
                          </a:solidFill>
                          <a:latin typeface="Arial"/>
                          <a:cs typeface="Arial"/>
                        </a:rPr>
                        <a:t>74%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4254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329"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1000" spc="-55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SQuAD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84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4000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1000" spc="-25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+8%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84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28270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900" b="1" spc="-25" dirty="0">
                          <a:solidFill>
                            <a:srgbClr val="1D3A8A"/>
                          </a:solidFill>
                          <a:latin typeface="Arial"/>
                          <a:cs typeface="Arial"/>
                        </a:rPr>
                        <a:t>34%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4254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29539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900" b="1" spc="-25" dirty="0">
                          <a:solidFill>
                            <a:srgbClr val="1D3A8A"/>
                          </a:solidFill>
                          <a:latin typeface="Arial"/>
                          <a:cs typeface="Arial"/>
                        </a:rPr>
                        <a:t>39%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4254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object 20"/>
          <p:cNvSpPr txBox="1"/>
          <p:nvPr/>
        </p:nvSpPr>
        <p:spPr>
          <a:xfrm>
            <a:off x="511175" y="1992028"/>
            <a:ext cx="5293995" cy="1603375"/>
          </a:xfrm>
          <a:prstGeom prst="rect">
            <a:avLst/>
          </a:prstGeom>
        </p:spPr>
        <p:txBody>
          <a:bodyPr vert="horz" wrap="square" lIns="0" tIns="1193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40"/>
              </a:spcBef>
            </a:pPr>
            <a:r>
              <a:rPr sz="1150" b="1" spc="-105" dirty="0">
                <a:solidFill>
                  <a:srgbClr val="2562EB"/>
                </a:solidFill>
                <a:latin typeface="Arial"/>
                <a:cs typeface="Arial"/>
              </a:rPr>
              <a:t>Replay</a:t>
            </a:r>
            <a:r>
              <a:rPr sz="1150" b="1" spc="-35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10" dirty="0">
                <a:solidFill>
                  <a:srgbClr val="2562EB"/>
                </a:solidFill>
                <a:latin typeface="Arial"/>
                <a:cs typeface="Arial"/>
              </a:rPr>
              <a:t>Mechanism</a:t>
            </a:r>
            <a:endParaRPr sz="1150">
              <a:latin typeface="Arial"/>
              <a:cs typeface="Arial"/>
            </a:endParaRPr>
          </a:p>
          <a:p>
            <a:pPr marL="145415" marR="5080">
              <a:lnSpc>
                <a:spcPct val="110800"/>
              </a:lnSpc>
              <a:spcBef>
                <a:spcPts val="625"/>
              </a:spcBef>
            </a:pPr>
            <a:r>
              <a:rPr sz="1050" b="1" spc="-75" dirty="0">
                <a:solidFill>
                  <a:srgbClr val="0E1729"/>
                </a:solidFill>
                <a:latin typeface="Arial"/>
                <a:cs typeface="Arial"/>
              </a:rPr>
              <a:t>Without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85" dirty="0">
                <a:solidFill>
                  <a:srgbClr val="0E1729"/>
                </a:solidFill>
                <a:latin typeface="Arial"/>
                <a:cs typeface="Arial"/>
              </a:rPr>
              <a:t>Replay:</a:t>
            </a:r>
            <a:r>
              <a:rPr sz="1050" b="1" spc="-2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120" dirty="0">
                <a:solidFill>
                  <a:srgbClr val="465469"/>
                </a:solidFill>
                <a:latin typeface="Arial"/>
                <a:cs typeface="Arial"/>
              </a:rPr>
              <a:t>100%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task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data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465469"/>
                </a:solidFill>
                <a:latin typeface="Segoe UI"/>
                <a:cs typeface="Segoe UI"/>
              </a:rPr>
              <a:t>→</a:t>
            </a:r>
            <a:r>
              <a:rPr sz="950" spc="10" dirty="0">
                <a:solidFill>
                  <a:srgbClr val="465469"/>
                </a:solidFill>
                <a:latin typeface="Segoe UI"/>
                <a:cs typeface="Segoe UI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catastrophic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forgetting </a:t>
            </a:r>
            <a:r>
              <a:rPr sz="950" dirty="0">
                <a:solidFill>
                  <a:srgbClr val="465469"/>
                </a:solidFill>
                <a:latin typeface="Segoe UI"/>
                <a:cs typeface="Segoe UI"/>
              </a:rPr>
              <a:t>→</a:t>
            </a:r>
            <a:r>
              <a:rPr sz="950" spc="10" dirty="0">
                <a:solidFill>
                  <a:srgbClr val="465469"/>
                </a:solidFill>
                <a:latin typeface="Segoe UI"/>
                <a:cs typeface="Segoe UI"/>
              </a:rPr>
              <a:t> </a:t>
            </a:r>
            <a:r>
              <a:rPr sz="1100" spc="-114" dirty="0">
                <a:solidFill>
                  <a:srgbClr val="465469"/>
                </a:solidFill>
                <a:latin typeface="Arial"/>
                <a:cs typeface="Arial"/>
              </a:rPr>
              <a:t>PPL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52-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123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20" dirty="0">
                <a:solidFill>
                  <a:srgbClr val="465469"/>
                </a:solidFill>
                <a:latin typeface="Arial"/>
                <a:cs typeface="Arial"/>
              </a:rPr>
              <a:t>(+7%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to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+151%) </a:t>
            </a:r>
            <a:r>
              <a:rPr sz="1050" b="1" spc="-75" dirty="0">
                <a:solidFill>
                  <a:srgbClr val="0E1729"/>
                </a:solidFill>
                <a:latin typeface="Arial"/>
                <a:cs typeface="Arial"/>
              </a:rPr>
              <a:t>With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100" dirty="0">
                <a:solidFill>
                  <a:srgbClr val="0E1729"/>
                </a:solidFill>
                <a:latin typeface="Arial"/>
                <a:cs typeface="Arial"/>
              </a:rPr>
              <a:t>10%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85" dirty="0">
                <a:solidFill>
                  <a:srgbClr val="0E1729"/>
                </a:solidFill>
                <a:latin typeface="Arial"/>
                <a:cs typeface="Arial"/>
              </a:rPr>
              <a:t>Replay: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135" dirty="0">
                <a:solidFill>
                  <a:srgbClr val="465469"/>
                </a:solidFill>
                <a:latin typeface="Arial"/>
                <a:cs typeface="Arial"/>
              </a:rPr>
              <a:t>90%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task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rgbClr val="465469"/>
                </a:solidFill>
                <a:latin typeface="Arial"/>
                <a:cs typeface="Arial"/>
              </a:rPr>
              <a:t>+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35" dirty="0">
                <a:solidFill>
                  <a:srgbClr val="465469"/>
                </a:solidFill>
                <a:latin typeface="Arial"/>
                <a:cs typeface="Arial"/>
              </a:rPr>
              <a:t>10%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WikiText-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2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465469"/>
                </a:solidFill>
                <a:latin typeface="Segoe UI"/>
                <a:cs typeface="Segoe UI"/>
              </a:rPr>
              <a:t>→</a:t>
            </a:r>
            <a:r>
              <a:rPr sz="950" spc="5" dirty="0">
                <a:solidFill>
                  <a:srgbClr val="465469"/>
                </a:solidFill>
                <a:latin typeface="Segoe UI"/>
                <a:cs typeface="Segoe UI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balanced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learning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465469"/>
                </a:solidFill>
                <a:latin typeface="Segoe UI"/>
                <a:cs typeface="Segoe UI"/>
              </a:rPr>
              <a:t>→</a:t>
            </a:r>
            <a:r>
              <a:rPr sz="950" spc="10" dirty="0">
                <a:solidFill>
                  <a:srgbClr val="465469"/>
                </a:solidFill>
                <a:latin typeface="Segoe UI"/>
                <a:cs typeface="Segoe UI"/>
              </a:rPr>
              <a:t> </a:t>
            </a:r>
            <a:r>
              <a:rPr sz="1100" spc="-114" dirty="0">
                <a:solidFill>
                  <a:srgbClr val="465469"/>
                </a:solidFill>
                <a:latin typeface="Arial"/>
                <a:cs typeface="Arial"/>
              </a:rPr>
              <a:t>PPL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34-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37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(near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baseline 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48.9)</a:t>
            </a:r>
            <a:endParaRPr sz="1100">
              <a:latin typeface="Arial"/>
              <a:cs typeface="Arial"/>
            </a:endParaRPr>
          </a:p>
          <a:p>
            <a:pPr marL="145415" marR="25400">
              <a:lnSpc>
                <a:spcPct val="102299"/>
              </a:lnSpc>
              <a:spcBef>
                <a:spcPts val="150"/>
              </a:spcBef>
            </a:pPr>
            <a:r>
              <a:rPr sz="1050" b="1" spc="-75" dirty="0">
                <a:solidFill>
                  <a:srgbClr val="0E1729"/>
                </a:solidFill>
                <a:latin typeface="Arial"/>
                <a:cs typeface="Arial"/>
              </a:rPr>
              <a:t>With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100" dirty="0">
                <a:solidFill>
                  <a:srgbClr val="0E1729"/>
                </a:solidFill>
                <a:latin typeface="Arial"/>
                <a:cs typeface="Arial"/>
              </a:rPr>
              <a:t>20%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85" dirty="0">
                <a:solidFill>
                  <a:srgbClr val="0E1729"/>
                </a:solidFill>
                <a:latin typeface="Arial"/>
                <a:cs typeface="Arial"/>
              </a:rPr>
              <a:t>Replay: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135" dirty="0">
                <a:solidFill>
                  <a:srgbClr val="465469"/>
                </a:solidFill>
                <a:latin typeface="Arial"/>
                <a:cs typeface="Arial"/>
              </a:rPr>
              <a:t>80%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task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rgbClr val="465469"/>
                </a:solidFill>
                <a:latin typeface="Arial"/>
                <a:cs typeface="Arial"/>
              </a:rPr>
              <a:t>+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35" dirty="0">
                <a:solidFill>
                  <a:srgbClr val="465469"/>
                </a:solidFill>
                <a:latin typeface="Arial"/>
                <a:cs typeface="Arial"/>
              </a:rPr>
              <a:t>20%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WikiText-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2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465469"/>
                </a:solidFill>
                <a:latin typeface="Segoe UI"/>
                <a:cs typeface="Segoe UI"/>
              </a:rPr>
              <a:t>→</a:t>
            </a:r>
            <a:r>
              <a:rPr sz="950" spc="10" dirty="0">
                <a:solidFill>
                  <a:srgbClr val="465469"/>
                </a:solidFill>
                <a:latin typeface="Segoe UI"/>
                <a:cs typeface="Segoe UI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max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protection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465469"/>
                </a:solidFill>
                <a:latin typeface="Segoe UI"/>
                <a:cs typeface="Segoe UI"/>
              </a:rPr>
              <a:t>→</a:t>
            </a:r>
            <a:r>
              <a:rPr sz="950" spc="10" dirty="0">
                <a:solidFill>
                  <a:srgbClr val="465469"/>
                </a:solidFill>
                <a:latin typeface="Segoe UI"/>
                <a:cs typeface="Segoe UI"/>
              </a:rPr>
              <a:t> </a:t>
            </a:r>
            <a:r>
              <a:rPr sz="1100" spc="-114" dirty="0">
                <a:solidFill>
                  <a:srgbClr val="465469"/>
                </a:solidFill>
                <a:latin typeface="Arial"/>
                <a:cs typeface="Arial"/>
              </a:rPr>
              <a:t>PPL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32-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33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10" dirty="0">
                <a:solidFill>
                  <a:srgbClr val="465469"/>
                </a:solidFill>
                <a:latin typeface="Arial"/>
                <a:cs typeface="Arial"/>
              </a:rPr>
              <a:t>(33%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better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than 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baseline!)</a:t>
            </a:r>
            <a:endParaRPr sz="11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55"/>
              </a:spcBef>
            </a:pPr>
            <a:r>
              <a:rPr sz="1150" b="1" spc="-105" dirty="0">
                <a:solidFill>
                  <a:srgbClr val="2562EB"/>
                </a:solidFill>
                <a:latin typeface="Arial"/>
                <a:cs typeface="Arial"/>
              </a:rPr>
              <a:t>Task</a:t>
            </a:r>
            <a:r>
              <a:rPr sz="1150" b="1" spc="-25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95" dirty="0">
                <a:solidFill>
                  <a:srgbClr val="2562EB"/>
                </a:solidFill>
                <a:latin typeface="Arial"/>
                <a:cs typeface="Arial"/>
              </a:rPr>
              <a:t>Distance</a:t>
            </a:r>
            <a:r>
              <a:rPr sz="1150" b="1" spc="-25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10" dirty="0">
                <a:solidFill>
                  <a:srgbClr val="2562EB"/>
                </a:solidFill>
                <a:latin typeface="Arial"/>
                <a:cs typeface="Arial"/>
              </a:rPr>
              <a:t>Correlation</a:t>
            </a:r>
            <a:endParaRPr sz="115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511175" y="4618651"/>
            <a:ext cx="4997450" cy="861060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</a:pPr>
            <a:r>
              <a:rPr sz="1050" b="1" spc="-65" dirty="0">
                <a:solidFill>
                  <a:srgbClr val="0E1729"/>
                </a:solidFill>
                <a:latin typeface="Arial"/>
                <a:cs typeface="Arial"/>
              </a:rPr>
              <a:t>Pattern:</a:t>
            </a:r>
            <a:r>
              <a:rPr sz="1050" b="1" spc="-2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105" dirty="0">
                <a:solidFill>
                  <a:srgbClr val="465469"/>
                </a:solidFill>
                <a:latin typeface="Arial"/>
                <a:cs typeface="Arial"/>
              </a:rPr>
              <a:t>SNLI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shows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worst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forgetting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but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best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recovery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•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45" dirty="0">
                <a:solidFill>
                  <a:srgbClr val="465469"/>
                </a:solidFill>
                <a:latin typeface="Arial"/>
                <a:cs typeface="Arial"/>
              </a:rPr>
              <a:t>SQuAD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least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affected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5" dirty="0">
                <a:solidFill>
                  <a:srgbClr val="465469"/>
                </a:solidFill>
                <a:latin typeface="Arial"/>
                <a:cs typeface="Arial"/>
              </a:rPr>
              <a:t>by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adapters</a:t>
            </a:r>
            <a:endParaRPr sz="11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sz="1150" b="1" spc="-95" dirty="0">
                <a:solidFill>
                  <a:srgbClr val="2562EB"/>
                </a:solidFill>
                <a:latin typeface="Arial"/>
                <a:cs typeface="Arial"/>
              </a:rPr>
              <a:t>Configuration</a:t>
            </a:r>
            <a:r>
              <a:rPr sz="1150" b="1" spc="60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75" dirty="0">
                <a:solidFill>
                  <a:srgbClr val="2562EB"/>
                </a:solidFill>
                <a:latin typeface="Arial"/>
                <a:cs typeface="Arial"/>
              </a:rPr>
              <a:t>Trade-</a:t>
            </a:r>
            <a:r>
              <a:rPr sz="1150" b="1" spc="-20" dirty="0">
                <a:solidFill>
                  <a:srgbClr val="2562EB"/>
                </a:solidFill>
                <a:latin typeface="Arial"/>
                <a:cs typeface="Arial"/>
              </a:rPr>
              <a:t>offs</a:t>
            </a:r>
            <a:endParaRPr sz="11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45"/>
              </a:spcBef>
            </a:pPr>
            <a:r>
              <a:rPr sz="1050" b="1" spc="-100" dirty="0">
                <a:solidFill>
                  <a:srgbClr val="0E1729"/>
                </a:solidFill>
                <a:latin typeface="Arial"/>
                <a:cs typeface="Arial"/>
              </a:rPr>
              <a:t>10%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85" dirty="0">
                <a:solidFill>
                  <a:srgbClr val="0E1729"/>
                </a:solidFill>
                <a:latin typeface="Arial"/>
                <a:cs typeface="Arial"/>
              </a:rPr>
              <a:t>Replay:</a:t>
            </a:r>
            <a:r>
              <a:rPr sz="1050" b="1" spc="-2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114" dirty="0">
                <a:solidFill>
                  <a:srgbClr val="465469"/>
                </a:solidFill>
                <a:latin typeface="Arial"/>
                <a:cs typeface="Arial"/>
              </a:rPr>
              <a:t>PPL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34-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37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(near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baseline)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•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0" dirty="0">
                <a:solidFill>
                  <a:srgbClr val="465469"/>
                </a:solidFill>
                <a:latin typeface="Arial"/>
                <a:cs typeface="Arial"/>
              </a:rPr>
              <a:t>~64%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recovery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•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Minimal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overhead</a:t>
            </a:r>
            <a:endParaRPr sz="11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1050" b="1" spc="-100" dirty="0">
                <a:solidFill>
                  <a:srgbClr val="0E1729"/>
                </a:solidFill>
                <a:latin typeface="Arial"/>
                <a:cs typeface="Arial"/>
              </a:rPr>
              <a:t>20%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85" dirty="0">
                <a:solidFill>
                  <a:srgbClr val="0E1729"/>
                </a:solidFill>
                <a:latin typeface="Arial"/>
                <a:cs typeface="Arial"/>
              </a:rPr>
              <a:t>Replay: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114" dirty="0">
                <a:solidFill>
                  <a:srgbClr val="465469"/>
                </a:solidFill>
                <a:latin typeface="Arial"/>
                <a:cs typeface="Arial"/>
              </a:rPr>
              <a:t>PPL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32-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33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(better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than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baseline!)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•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0" dirty="0">
                <a:solidFill>
                  <a:srgbClr val="465469"/>
                </a:solidFill>
                <a:latin typeface="Arial"/>
                <a:cs typeface="Arial"/>
              </a:rPr>
              <a:t>~67%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recovery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•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Best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465469"/>
                </a:solidFill>
                <a:latin typeface="Arial"/>
                <a:cs typeface="Arial"/>
              </a:rPr>
              <a:t>for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retention</a:t>
            </a:r>
            <a:endParaRPr sz="1100">
              <a:latin typeface="Arial"/>
              <a:cs typeface="Arial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6172199" y="3667124"/>
            <a:ext cx="5495925" cy="828675"/>
            <a:chOff x="6172199" y="3667124"/>
            <a:chExt cx="5495925" cy="828675"/>
          </a:xfrm>
        </p:grpSpPr>
        <p:pic>
          <p:nvPicPr>
            <p:cNvPr id="23" name="object 23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6210299" y="3667124"/>
              <a:ext cx="5457824" cy="476249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6172199" y="3667124"/>
              <a:ext cx="52069" cy="476250"/>
            </a:xfrm>
            <a:custGeom>
              <a:avLst/>
              <a:gdLst/>
              <a:ahLst/>
              <a:cxnLst/>
              <a:rect l="l" t="t" r="r" b="b"/>
              <a:pathLst>
                <a:path w="52070" h="476250">
                  <a:moveTo>
                    <a:pt x="51889" y="476249"/>
                  </a:moveTo>
                  <a:lnTo>
                    <a:pt x="49571" y="476249"/>
                  </a:lnTo>
                  <a:lnTo>
                    <a:pt x="42280" y="474799"/>
                  </a:lnTo>
                  <a:lnTo>
                    <a:pt x="7249" y="447971"/>
                  </a:lnTo>
                  <a:lnTo>
                    <a:pt x="0" y="426678"/>
                  </a:lnTo>
                  <a:lnTo>
                    <a:pt x="0" y="49571"/>
                  </a:lnTo>
                  <a:lnTo>
                    <a:pt x="22097" y="11379"/>
                  </a:lnTo>
                  <a:lnTo>
                    <a:pt x="49571" y="0"/>
                  </a:lnTo>
                  <a:lnTo>
                    <a:pt x="51889" y="0"/>
                  </a:lnTo>
                  <a:lnTo>
                    <a:pt x="47399" y="5579"/>
                  </a:lnTo>
                  <a:lnTo>
                    <a:pt x="43679" y="16738"/>
                  </a:lnTo>
                  <a:lnTo>
                    <a:pt x="41238" y="25541"/>
                  </a:lnTo>
                  <a:lnTo>
                    <a:pt x="39494" y="35211"/>
                  </a:lnTo>
                  <a:lnTo>
                    <a:pt x="38448" y="45747"/>
                  </a:lnTo>
                  <a:lnTo>
                    <a:pt x="38100" y="57150"/>
                  </a:lnTo>
                  <a:lnTo>
                    <a:pt x="38100" y="419100"/>
                  </a:lnTo>
                  <a:lnTo>
                    <a:pt x="43679" y="459510"/>
                  </a:lnTo>
                  <a:lnTo>
                    <a:pt x="47399" y="470670"/>
                  </a:lnTo>
                  <a:lnTo>
                    <a:pt x="51889" y="476249"/>
                  </a:lnTo>
                  <a:close/>
                </a:path>
              </a:pathLst>
            </a:custGeom>
            <a:solidFill>
              <a:srgbClr val="33D39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5" name="object 25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210299" y="4181474"/>
              <a:ext cx="5457824" cy="314324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6172199" y="4181474"/>
              <a:ext cx="52069" cy="314325"/>
            </a:xfrm>
            <a:custGeom>
              <a:avLst/>
              <a:gdLst/>
              <a:ahLst/>
              <a:cxnLst/>
              <a:rect l="l" t="t" r="r" b="b"/>
              <a:pathLst>
                <a:path w="52070" h="314325">
                  <a:moveTo>
                    <a:pt x="51889" y="314324"/>
                  </a:moveTo>
                  <a:lnTo>
                    <a:pt x="49571" y="314324"/>
                  </a:lnTo>
                  <a:lnTo>
                    <a:pt x="42282" y="312874"/>
                  </a:lnTo>
                  <a:lnTo>
                    <a:pt x="7249" y="286046"/>
                  </a:lnTo>
                  <a:lnTo>
                    <a:pt x="0" y="264753"/>
                  </a:lnTo>
                  <a:lnTo>
                    <a:pt x="0" y="49571"/>
                  </a:lnTo>
                  <a:lnTo>
                    <a:pt x="22097" y="11379"/>
                  </a:lnTo>
                  <a:lnTo>
                    <a:pt x="49571" y="0"/>
                  </a:lnTo>
                  <a:lnTo>
                    <a:pt x="51889" y="0"/>
                  </a:lnTo>
                  <a:lnTo>
                    <a:pt x="47399" y="5579"/>
                  </a:lnTo>
                  <a:lnTo>
                    <a:pt x="43679" y="16738"/>
                  </a:lnTo>
                  <a:lnTo>
                    <a:pt x="41238" y="25541"/>
                  </a:lnTo>
                  <a:lnTo>
                    <a:pt x="39494" y="35211"/>
                  </a:lnTo>
                  <a:lnTo>
                    <a:pt x="38448" y="45747"/>
                  </a:lnTo>
                  <a:lnTo>
                    <a:pt x="38100" y="57150"/>
                  </a:lnTo>
                  <a:lnTo>
                    <a:pt x="38100" y="257175"/>
                  </a:lnTo>
                  <a:lnTo>
                    <a:pt x="43679" y="297585"/>
                  </a:lnTo>
                  <a:lnTo>
                    <a:pt x="47399" y="308745"/>
                  </a:lnTo>
                  <a:lnTo>
                    <a:pt x="51889" y="314324"/>
                  </a:lnTo>
                  <a:close/>
                </a:path>
              </a:pathLst>
            </a:custGeom>
            <a:solidFill>
              <a:srgbClr val="FABE2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6159499" y="2073269"/>
            <a:ext cx="5441950" cy="3358515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00"/>
              </a:spcBef>
            </a:pPr>
            <a:r>
              <a:rPr sz="1150" b="1" spc="-130" dirty="0">
                <a:solidFill>
                  <a:srgbClr val="2562EB"/>
                </a:solidFill>
                <a:latin typeface="Arial"/>
                <a:cs typeface="Arial"/>
              </a:rPr>
              <a:t>Key</a:t>
            </a:r>
            <a:r>
              <a:rPr sz="1150" b="1" spc="-60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10" dirty="0">
                <a:solidFill>
                  <a:srgbClr val="2562EB"/>
                </a:solidFill>
                <a:latin typeface="Arial"/>
                <a:cs typeface="Arial"/>
              </a:rPr>
              <a:t>Discoveries</a:t>
            </a:r>
            <a:endParaRPr sz="1150">
              <a:latin typeface="Arial"/>
              <a:cs typeface="Arial"/>
            </a:endParaRPr>
          </a:p>
          <a:p>
            <a:pPr marL="12700" marR="102235" indent="137160">
              <a:lnSpc>
                <a:spcPct val="108000"/>
              </a:lnSpc>
              <a:spcBef>
                <a:spcPts val="65"/>
              </a:spcBef>
              <a:buAutoNum type="arabicPeriod"/>
              <a:tabLst>
                <a:tab pos="149860" algn="l"/>
              </a:tabLst>
            </a:pPr>
            <a:r>
              <a:rPr sz="1050" b="1" spc="-85" dirty="0">
                <a:solidFill>
                  <a:srgbClr val="0E1729"/>
                </a:solidFill>
                <a:latin typeface="Arial"/>
                <a:cs typeface="Arial"/>
              </a:rPr>
              <a:t>Replay</a:t>
            </a:r>
            <a:r>
              <a:rPr sz="1050" b="1" spc="-1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70" dirty="0">
                <a:solidFill>
                  <a:srgbClr val="0E1729"/>
                </a:solidFill>
                <a:latin typeface="Arial"/>
                <a:cs typeface="Arial"/>
              </a:rPr>
              <a:t>Effectiveness:</a:t>
            </a:r>
            <a:r>
              <a:rPr sz="1050" b="1" spc="-1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34-</a:t>
            </a:r>
            <a:r>
              <a:rPr sz="1100" spc="-135" dirty="0">
                <a:solidFill>
                  <a:srgbClr val="465469"/>
                </a:solidFill>
                <a:latin typeface="Arial"/>
                <a:cs typeface="Arial"/>
              </a:rPr>
              <a:t>74%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recovery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from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catastrophic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forgetting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•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35" dirty="0">
                <a:solidFill>
                  <a:srgbClr val="465469"/>
                </a:solidFill>
                <a:latin typeface="Arial"/>
                <a:cs typeface="Arial"/>
              </a:rPr>
              <a:t>20%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replay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achieves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10" dirty="0">
                <a:solidFill>
                  <a:srgbClr val="465469"/>
                </a:solidFill>
                <a:latin typeface="Arial"/>
                <a:cs typeface="Arial"/>
              </a:rPr>
              <a:t>33%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 better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14" dirty="0">
                <a:solidFill>
                  <a:srgbClr val="465469"/>
                </a:solidFill>
                <a:latin typeface="Arial"/>
                <a:cs typeface="Arial"/>
              </a:rPr>
              <a:t>PPL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than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baseline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•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Simple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to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implement</a:t>
            </a:r>
            <a:endParaRPr sz="1100">
              <a:latin typeface="Arial"/>
              <a:cs typeface="Arial"/>
            </a:endParaRPr>
          </a:p>
          <a:p>
            <a:pPr marL="12700" marR="326390" indent="137160">
              <a:lnSpc>
                <a:spcPct val="102299"/>
              </a:lnSpc>
              <a:spcBef>
                <a:spcPts val="150"/>
              </a:spcBef>
              <a:buAutoNum type="arabicPeriod"/>
              <a:tabLst>
                <a:tab pos="149860" algn="l"/>
              </a:tabLst>
            </a:pPr>
            <a:r>
              <a:rPr sz="1050" b="1" spc="-75" dirty="0">
                <a:solidFill>
                  <a:srgbClr val="0E1729"/>
                </a:solidFill>
                <a:latin typeface="Arial"/>
                <a:cs typeface="Arial"/>
              </a:rPr>
              <a:t>Optimal</a:t>
            </a:r>
            <a:r>
              <a:rPr sz="1050" b="1" spc="-4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75" dirty="0">
                <a:solidFill>
                  <a:srgbClr val="0E1729"/>
                </a:solidFill>
                <a:latin typeface="Arial"/>
                <a:cs typeface="Arial"/>
              </a:rPr>
              <a:t>Configuration: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135" dirty="0">
                <a:solidFill>
                  <a:srgbClr val="465469"/>
                </a:solidFill>
                <a:latin typeface="Arial"/>
                <a:cs typeface="Arial"/>
              </a:rPr>
              <a:t>20%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replay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465469"/>
                </a:solidFill>
                <a:latin typeface="Arial"/>
                <a:cs typeface="Arial"/>
              </a:rPr>
              <a:t>for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max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retention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rgbClr val="465469"/>
                </a:solidFill>
                <a:latin typeface="Arial"/>
                <a:cs typeface="Arial"/>
              </a:rPr>
              <a:t>(PPL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32-</a:t>
            </a: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33)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•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35" dirty="0">
                <a:solidFill>
                  <a:srgbClr val="465469"/>
                </a:solidFill>
                <a:latin typeface="Arial"/>
                <a:cs typeface="Arial"/>
              </a:rPr>
              <a:t>10%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replay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465469"/>
                </a:solidFill>
                <a:latin typeface="Arial"/>
                <a:cs typeface="Arial"/>
              </a:rPr>
              <a:t>for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balanced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approach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rgbClr val="465469"/>
                </a:solidFill>
                <a:latin typeface="Arial"/>
                <a:cs typeface="Arial"/>
              </a:rPr>
              <a:t>(PPL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34-</a:t>
            </a: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37)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•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Both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beat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baseline</a:t>
            </a:r>
            <a:endParaRPr sz="1100">
              <a:latin typeface="Arial"/>
              <a:cs typeface="Arial"/>
            </a:endParaRPr>
          </a:p>
          <a:p>
            <a:pPr marL="12700" marR="5080" indent="133985">
              <a:lnSpc>
                <a:spcPct val="102299"/>
              </a:lnSpc>
              <a:spcBef>
                <a:spcPts val="145"/>
              </a:spcBef>
              <a:buAutoNum type="arabicPeriod"/>
              <a:tabLst>
                <a:tab pos="146685" algn="l"/>
              </a:tabLst>
            </a:pPr>
            <a:r>
              <a:rPr sz="1050" b="1" spc="-65" dirty="0">
                <a:solidFill>
                  <a:srgbClr val="0E1729"/>
                </a:solidFill>
                <a:latin typeface="Arial"/>
                <a:cs typeface="Arial"/>
              </a:rPr>
              <a:t>Task-Specific</a:t>
            </a:r>
            <a:r>
              <a:rPr sz="1050" b="1" spc="-1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65" dirty="0">
                <a:solidFill>
                  <a:srgbClr val="0E1729"/>
                </a:solidFill>
                <a:latin typeface="Arial"/>
                <a:cs typeface="Arial"/>
              </a:rPr>
              <a:t>Patterns:</a:t>
            </a:r>
            <a:r>
              <a:rPr sz="1050" b="1" spc="-1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105" dirty="0">
                <a:solidFill>
                  <a:srgbClr val="465469"/>
                </a:solidFill>
                <a:latin typeface="Arial"/>
                <a:cs typeface="Arial"/>
              </a:rPr>
              <a:t>SNLI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worst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forgetting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90" dirty="0">
                <a:solidFill>
                  <a:srgbClr val="465469"/>
                </a:solidFill>
                <a:latin typeface="Arial"/>
                <a:cs typeface="Arial"/>
              </a:rPr>
              <a:t>(+151%)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but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best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recovery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rgbClr val="465469"/>
                </a:solidFill>
                <a:latin typeface="Arial"/>
                <a:cs typeface="Arial"/>
              </a:rPr>
              <a:t>(74%)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•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45" dirty="0">
                <a:solidFill>
                  <a:srgbClr val="465469"/>
                </a:solidFill>
                <a:latin typeface="Arial"/>
                <a:cs typeface="Arial"/>
              </a:rPr>
              <a:t>SQuAD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minimal 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forgetting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0" dirty="0">
                <a:solidFill>
                  <a:srgbClr val="465469"/>
                </a:solidFill>
                <a:latin typeface="Arial"/>
                <a:cs typeface="Arial"/>
              </a:rPr>
              <a:t>(+8%)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•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65" dirty="0">
                <a:solidFill>
                  <a:srgbClr val="465469"/>
                </a:solidFill>
                <a:latin typeface="Arial"/>
                <a:cs typeface="Arial"/>
              </a:rPr>
              <a:t>SST-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2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balanced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5" dirty="0">
                <a:solidFill>
                  <a:srgbClr val="465469"/>
                </a:solidFill>
                <a:latin typeface="Arial"/>
                <a:cs typeface="Arial"/>
              </a:rPr>
              <a:t>(+106%,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35" dirty="0">
                <a:solidFill>
                  <a:srgbClr val="465469"/>
                </a:solidFill>
                <a:latin typeface="Arial"/>
                <a:cs typeface="Arial"/>
              </a:rPr>
              <a:t>67%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recovery)</a:t>
            </a:r>
            <a:endParaRPr sz="11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05"/>
              </a:spcBef>
            </a:pPr>
            <a:r>
              <a:rPr sz="1150" b="1" spc="-120" dirty="0">
                <a:solidFill>
                  <a:srgbClr val="2562EB"/>
                </a:solidFill>
                <a:latin typeface="Arial"/>
                <a:cs typeface="Arial"/>
              </a:rPr>
              <a:t>When</a:t>
            </a:r>
            <a:r>
              <a:rPr sz="1150" b="1" spc="-50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85" dirty="0">
                <a:solidFill>
                  <a:srgbClr val="2562EB"/>
                </a:solidFill>
                <a:latin typeface="Arial"/>
                <a:cs typeface="Arial"/>
              </a:rPr>
              <a:t>to</a:t>
            </a:r>
            <a:r>
              <a:rPr sz="1150" b="1" spc="-45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120" dirty="0">
                <a:solidFill>
                  <a:srgbClr val="2562EB"/>
                </a:solidFill>
                <a:latin typeface="Arial"/>
                <a:cs typeface="Arial"/>
              </a:rPr>
              <a:t>Use</a:t>
            </a:r>
            <a:r>
              <a:rPr sz="1150" b="1" spc="-45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10" dirty="0">
                <a:solidFill>
                  <a:srgbClr val="2562EB"/>
                </a:solidFill>
                <a:latin typeface="Arial"/>
                <a:cs typeface="Arial"/>
              </a:rPr>
              <a:t>Replay</a:t>
            </a:r>
            <a:endParaRPr sz="1150">
              <a:latin typeface="Arial"/>
              <a:cs typeface="Arial"/>
            </a:endParaRPr>
          </a:p>
          <a:p>
            <a:pPr marL="145415" marR="228600">
              <a:lnSpc>
                <a:spcPct val="102299"/>
              </a:lnSpc>
              <a:spcBef>
                <a:spcPts val="740"/>
              </a:spcBef>
            </a:pPr>
            <a:r>
              <a:rPr sz="1050" b="1" spc="-90" dirty="0">
                <a:solidFill>
                  <a:srgbClr val="0E1729"/>
                </a:solidFill>
                <a:latin typeface="Arial"/>
                <a:cs typeface="Arial"/>
              </a:rPr>
              <a:t>Use</a:t>
            </a:r>
            <a:r>
              <a:rPr sz="1050" b="1" spc="-1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95" dirty="0">
                <a:solidFill>
                  <a:srgbClr val="0E1729"/>
                </a:solidFill>
                <a:latin typeface="Arial"/>
                <a:cs typeface="Arial"/>
              </a:rPr>
              <a:t>When:</a:t>
            </a:r>
            <a:r>
              <a:rPr sz="1050" b="1" spc="-1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Multi-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purpose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deployment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•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Retention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critical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•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0" dirty="0">
                <a:solidFill>
                  <a:srgbClr val="465469"/>
                </a:solidFill>
                <a:latin typeface="Arial"/>
                <a:cs typeface="Arial"/>
              </a:rPr>
              <a:t>Have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WikiText-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2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or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similar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general </a:t>
            </a:r>
            <a:r>
              <a:rPr sz="1100" spc="-20" dirty="0">
                <a:solidFill>
                  <a:srgbClr val="465469"/>
                </a:solidFill>
                <a:latin typeface="Arial"/>
                <a:cs typeface="Arial"/>
              </a:rPr>
              <a:t>text</a:t>
            </a:r>
            <a:endParaRPr sz="11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0"/>
              </a:spcBef>
            </a:pPr>
            <a:endParaRPr sz="950">
              <a:latin typeface="Arial"/>
              <a:cs typeface="Arial"/>
            </a:endParaRPr>
          </a:p>
          <a:p>
            <a:pPr marL="145415">
              <a:lnSpc>
                <a:spcPct val="100000"/>
              </a:lnSpc>
            </a:pPr>
            <a:r>
              <a:rPr sz="1050" b="1" spc="-90" dirty="0">
                <a:solidFill>
                  <a:srgbClr val="0E1729"/>
                </a:solidFill>
                <a:latin typeface="Arial"/>
                <a:cs typeface="Arial"/>
              </a:rPr>
              <a:t>Avoid</a:t>
            </a:r>
            <a:r>
              <a:rPr sz="1050" b="1" spc="-2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95" dirty="0">
                <a:solidFill>
                  <a:srgbClr val="0E1729"/>
                </a:solidFill>
                <a:latin typeface="Arial"/>
                <a:cs typeface="Arial"/>
              </a:rPr>
              <a:t>When:</a:t>
            </a:r>
            <a:r>
              <a:rPr sz="1050" b="1" spc="-1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Single-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task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deployment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•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Performance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critical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•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Limited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compute</a:t>
            </a:r>
            <a:endParaRPr sz="11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030"/>
              </a:spcBef>
            </a:pPr>
            <a:r>
              <a:rPr sz="1150" b="1" spc="-85" dirty="0">
                <a:solidFill>
                  <a:srgbClr val="2562EB"/>
                </a:solidFill>
                <a:latin typeface="Arial"/>
                <a:cs typeface="Arial"/>
              </a:rPr>
              <a:t>Implementation</a:t>
            </a:r>
            <a:r>
              <a:rPr sz="1150" b="1" spc="50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20" dirty="0">
                <a:solidFill>
                  <a:srgbClr val="2562EB"/>
                </a:solidFill>
                <a:latin typeface="Arial"/>
                <a:cs typeface="Arial"/>
              </a:rPr>
              <a:t>Steps</a:t>
            </a:r>
            <a:endParaRPr sz="1150">
              <a:latin typeface="Arial"/>
              <a:cs typeface="Arial"/>
            </a:endParaRPr>
          </a:p>
          <a:p>
            <a:pPr marL="149860" indent="-137160">
              <a:lnSpc>
                <a:spcPct val="100000"/>
              </a:lnSpc>
              <a:spcBef>
                <a:spcPts val="170"/>
              </a:spcBef>
              <a:buClr>
                <a:srgbClr val="0E1729"/>
              </a:buClr>
              <a:buSzPct val="95454"/>
              <a:buFont typeface="Arial"/>
              <a:buAutoNum type="arabicPeriod"/>
              <a:tabLst>
                <a:tab pos="149860" algn="l"/>
              </a:tabLst>
            </a:pP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Select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replay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ratio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10" dirty="0">
                <a:solidFill>
                  <a:srgbClr val="465469"/>
                </a:solidFill>
                <a:latin typeface="Arial"/>
                <a:cs typeface="Arial"/>
              </a:rPr>
              <a:t>(10%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balanced,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35" dirty="0">
                <a:solidFill>
                  <a:srgbClr val="465469"/>
                </a:solidFill>
                <a:latin typeface="Arial"/>
                <a:cs typeface="Arial"/>
              </a:rPr>
              <a:t>20%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max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retention)</a:t>
            </a:r>
            <a:endParaRPr sz="1100">
              <a:latin typeface="Arial"/>
              <a:cs typeface="Arial"/>
            </a:endParaRPr>
          </a:p>
          <a:p>
            <a:pPr marL="149860" indent="-137160">
              <a:lnSpc>
                <a:spcPct val="100000"/>
              </a:lnSpc>
              <a:spcBef>
                <a:spcPts val="30"/>
              </a:spcBef>
              <a:buClr>
                <a:srgbClr val="0E1729"/>
              </a:buClr>
              <a:buSzPct val="95454"/>
              <a:buFont typeface="Arial"/>
              <a:buAutoNum type="arabicPeriod"/>
              <a:tabLst>
                <a:tab pos="149860" algn="l"/>
              </a:tabLst>
            </a:pP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Mix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WikiText-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2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(general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text)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with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task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data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during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training</a:t>
            </a:r>
            <a:endParaRPr sz="1100">
              <a:latin typeface="Arial"/>
              <a:cs typeface="Arial"/>
            </a:endParaRPr>
          </a:p>
          <a:p>
            <a:pPr marL="149860" indent="-137160">
              <a:lnSpc>
                <a:spcPct val="100000"/>
              </a:lnSpc>
              <a:spcBef>
                <a:spcPts val="30"/>
              </a:spcBef>
              <a:buClr>
                <a:srgbClr val="0E1729"/>
              </a:buClr>
              <a:buSzPct val="95454"/>
              <a:buFont typeface="Arial"/>
              <a:buAutoNum type="arabicPeriod"/>
              <a:tabLst>
                <a:tab pos="149860" algn="l"/>
              </a:tabLst>
            </a:pP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Monitor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WikiText-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2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14" dirty="0">
                <a:solidFill>
                  <a:srgbClr val="465469"/>
                </a:solidFill>
                <a:latin typeface="Arial"/>
                <a:cs typeface="Arial"/>
              </a:rPr>
              <a:t>PPL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rgbClr val="465469"/>
                </a:solidFill>
                <a:latin typeface="Arial"/>
                <a:cs typeface="Arial"/>
              </a:rPr>
              <a:t>+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task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metrics</a:t>
            </a:r>
            <a:endParaRPr sz="1100">
              <a:latin typeface="Arial"/>
              <a:cs typeface="Arial"/>
            </a:endParaRPr>
          </a:p>
          <a:p>
            <a:pPr marL="149860" indent="-137160">
              <a:lnSpc>
                <a:spcPct val="100000"/>
              </a:lnSpc>
              <a:spcBef>
                <a:spcPts val="105"/>
              </a:spcBef>
              <a:buClr>
                <a:srgbClr val="0E1729"/>
              </a:buClr>
              <a:buSzPct val="95454"/>
              <a:buFont typeface="Arial"/>
              <a:buAutoNum type="arabicPeriod"/>
              <a:tabLst>
                <a:tab pos="149860" algn="l"/>
              </a:tabLst>
            </a:pP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Validate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on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held-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out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general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test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set</a:t>
            </a:r>
            <a:endParaRPr sz="11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23874" y="1971674"/>
            <a:ext cx="11144250" cy="28575"/>
          </a:xfrm>
          <a:custGeom>
            <a:avLst/>
            <a:gdLst/>
            <a:ahLst/>
            <a:cxnLst/>
            <a:rect l="l" t="t" r="r" b="b"/>
            <a:pathLst>
              <a:path w="11144250" h="28575">
                <a:moveTo>
                  <a:pt x="11144249" y="28574"/>
                </a:moveTo>
                <a:lnTo>
                  <a:pt x="0" y="28574"/>
                </a:lnTo>
                <a:lnTo>
                  <a:pt x="0" y="0"/>
                </a:lnTo>
                <a:lnTo>
                  <a:pt x="11144249" y="0"/>
                </a:lnTo>
                <a:lnTo>
                  <a:pt x="11144249" y="28574"/>
                </a:lnTo>
                <a:close/>
              </a:path>
            </a:pathLst>
          </a:custGeom>
          <a:solidFill>
            <a:srgbClr val="3B81F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pc="-135" dirty="0"/>
              <a:t>Model</a:t>
            </a:r>
            <a:r>
              <a:rPr spc="-185" dirty="0"/>
              <a:t> </a:t>
            </a:r>
            <a:r>
              <a:rPr spc="-200" dirty="0"/>
              <a:t>Scaling:</a:t>
            </a:r>
            <a:r>
              <a:rPr spc="-185" dirty="0"/>
              <a:t> </a:t>
            </a:r>
            <a:r>
              <a:rPr spc="-140" dirty="0"/>
              <a:t>Impact</a:t>
            </a:r>
            <a:r>
              <a:rPr spc="-180" dirty="0"/>
              <a:t> </a:t>
            </a:r>
            <a:r>
              <a:rPr spc="-135" dirty="0"/>
              <a:t>of</a:t>
            </a:r>
            <a:r>
              <a:rPr spc="-185" dirty="0"/>
              <a:t> </a:t>
            </a:r>
            <a:r>
              <a:rPr spc="-135" dirty="0"/>
              <a:t>Model</a:t>
            </a:r>
            <a:r>
              <a:rPr spc="-185" dirty="0"/>
              <a:t> </a:t>
            </a:r>
            <a:r>
              <a:rPr spc="-170" dirty="0"/>
              <a:t>Size</a:t>
            </a:r>
            <a:r>
              <a:rPr spc="-180" dirty="0"/>
              <a:t> </a:t>
            </a:r>
            <a:r>
              <a:rPr spc="-210" dirty="0"/>
              <a:t>on</a:t>
            </a:r>
            <a:r>
              <a:rPr spc="-185" dirty="0"/>
              <a:t> </a:t>
            </a:r>
            <a:r>
              <a:rPr spc="-135" dirty="0"/>
              <a:t>Forgetting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469391" y="3697223"/>
            <a:ext cx="5605780" cy="1073150"/>
            <a:chOff x="469391" y="3697223"/>
            <a:chExt cx="5605780" cy="1073150"/>
          </a:xfrm>
        </p:grpSpPr>
        <p:sp>
          <p:nvSpPr>
            <p:cNvPr id="5" name="object 5"/>
            <p:cNvSpPr/>
            <p:nvPr/>
          </p:nvSpPr>
          <p:spPr>
            <a:xfrm>
              <a:off x="469391" y="3697223"/>
              <a:ext cx="5605780" cy="1073150"/>
            </a:xfrm>
            <a:custGeom>
              <a:avLst/>
              <a:gdLst/>
              <a:ahLst/>
              <a:cxnLst/>
              <a:rect l="l" t="t" r="r" b="b"/>
              <a:pathLst>
                <a:path w="5605780" h="1073150">
                  <a:moveTo>
                    <a:pt x="5605271" y="1072895"/>
                  </a:moveTo>
                  <a:lnTo>
                    <a:pt x="0" y="1072895"/>
                  </a:lnTo>
                  <a:lnTo>
                    <a:pt x="0" y="0"/>
                  </a:lnTo>
                  <a:lnTo>
                    <a:pt x="5605271" y="0"/>
                  </a:lnTo>
                  <a:lnTo>
                    <a:pt x="5605271" y="46100"/>
                  </a:lnTo>
                  <a:lnTo>
                    <a:pt x="111632" y="46100"/>
                  </a:lnTo>
                  <a:lnTo>
                    <a:pt x="102130" y="46972"/>
                  </a:lnTo>
                  <a:lnTo>
                    <a:pt x="67495" y="75443"/>
                  </a:lnTo>
                  <a:lnTo>
                    <a:pt x="64007" y="93725"/>
                  </a:lnTo>
                  <a:lnTo>
                    <a:pt x="64007" y="941450"/>
                  </a:lnTo>
                  <a:lnTo>
                    <a:pt x="85292" y="981229"/>
                  </a:lnTo>
                  <a:lnTo>
                    <a:pt x="111632" y="989075"/>
                  </a:lnTo>
                  <a:lnTo>
                    <a:pt x="5605271" y="989075"/>
                  </a:lnTo>
                  <a:lnTo>
                    <a:pt x="5605271" y="1072895"/>
                  </a:lnTo>
                  <a:close/>
                </a:path>
                <a:path w="5605780" h="1073150">
                  <a:moveTo>
                    <a:pt x="5605271" y="989075"/>
                  </a:moveTo>
                  <a:lnTo>
                    <a:pt x="5493257" y="989075"/>
                  </a:lnTo>
                  <a:lnTo>
                    <a:pt x="5502759" y="988204"/>
                  </a:lnTo>
                  <a:lnTo>
                    <a:pt x="5511539" y="985588"/>
                  </a:lnTo>
                  <a:lnTo>
                    <a:pt x="5540010" y="950953"/>
                  </a:lnTo>
                  <a:lnTo>
                    <a:pt x="5540882" y="941450"/>
                  </a:lnTo>
                  <a:lnTo>
                    <a:pt x="5540882" y="93725"/>
                  </a:lnTo>
                  <a:lnTo>
                    <a:pt x="5519597" y="53947"/>
                  </a:lnTo>
                  <a:lnTo>
                    <a:pt x="5493257" y="46100"/>
                  </a:lnTo>
                  <a:lnTo>
                    <a:pt x="5605271" y="46100"/>
                  </a:lnTo>
                  <a:lnTo>
                    <a:pt x="5605271" y="989075"/>
                  </a:lnTo>
                  <a:close/>
                </a:path>
              </a:pathLst>
            </a:custGeom>
            <a:solidFill>
              <a:srgbClr val="000000">
                <a:alpha val="783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23874" y="3733799"/>
              <a:ext cx="5495925" cy="962025"/>
            </a:xfrm>
            <a:custGeom>
              <a:avLst/>
              <a:gdLst/>
              <a:ahLst/>
              <a:cxnLst/>
              <a:rect l="l" t="t" r="r" b="b"/>
              <a:pathLst>
                <a:path w="5495925" h="962025">
                  <a:moveTo>
                    <a:pt x="5442527" y="962024"/>
                  </a:moveTo>
                  <a:lnTo>
                    <a:pt x="53397" y="962024"/>
                  </a:lnTo>
                  <a:lnTo>
                    <a:pt x="49681" y="961658"/>
                  </a:lnTo>
                  <a:lnTo>
                    <a:pt x="14085" y="942632"/>
                  </a:lnTo>
                  <a:lnTo>
                    <a:pt x="0" y="908627"/>
                  </a:lnTo>
                  <a:lnTo>
                    <a:pt x="0" y="904874"/>
                  </a:lnTo>
                  <a:lnTo>
                    <a:pt x="0" y="53397"/>
                  </a:lnTo>
                  <a:lnTo>
                    <a:pt x="19392" y="14084"/>
                  </a:lnTo>
                  <a:lnTo>
                    <a:pt x="53397" y="0"/>
                  </a:lnTo>
                  <a:lnTo>
                    <a:pt x="5442527" y="0"/>
                  </a:lnTo>
                  <a:lnTo>
                    <a:pt x="5481838" y="19391"/>
                  </a:lnTo>
                  <a:lnTo>
                    <a:pt x="5495924" y="53397"/>
                  </a:lnTo>
                  <a:lnTo>
                    <a:pt x="5495924" y="908627"/>
                  </a:lnTo>
                  <a:lnTo>
                    <a:pt x="5476532" y="947938"/>
                  </a:lnTo>
                  <a:lnTo>
                    <a:pt x="5446243" y="961658"/>
                  </a:lnTo>
                  <a:lnTo>
                    <a:pt x="5442527" y="9620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533399" y="3743324"/>
            <a:ext cx="3305175" cy="952500"/>
            <a:chOff x="533399" y="3743324"/>
            <a:chExt cx="3305175" cy="952500"/>
          </a:xfrm>
        </p:grpSpPr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3399" y="3743324"/>
              <a:ext cx="3305174" cy="238125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533387" y="3981449"/>
              <a:ext cx="3305175" cy="714375"/>
            </a:xfrm>
            <a:custGeom>
              <a:avLst/>
              <a:gdLst/>
              <a:ahLst/>
              <a:cxnLst/>
              <a:rect l="l" t="t" r="r" b="b"/>
              <a:pathLst>
                <a:path w="3305175" h="714375">
                  <a:moveTo>
                    <a:pt x="3305175" y="0"/>
                  </a:moveTo>
                  <a:lnTo>
                    <a:pt x="3305175" y="0"/>
                  </a:lnTo>
                  <a:lnTo>
                    <a:pt x="0" y="0"/>
                  </a:lnTo>
                  <a:lnTo>
                    <a:pt x="0" y="238125"/>
                  </a:lnTo>
                  <a:lnTo>
                    <a:pt x="0" y="466725"/>
                  </a:lnTo>
                  <a:lnTo>
                    <a:pt x="0" y="689508"/>
                  </a:lnTo>
                  <a:lnTo>
                    <a:pt x="1866" y="692277"/>
                  </a:lnTo>
                  <a:lnTo>
                    <a:pt x="12573" y="702995"/>
                  </a:lnTo>
                  <a:lnTo>
                    <a:pt x="18757" y="707123"/>
                  </a:lnTo>
                  <a:lnTo>
                    <a:pt x="32766" y="712927"/>
                  </a:lnTo>
                  <a:lnTo>
                    <a:pt x="40055" y="714375"/>
                  </a:lnTo>
                  <a:lnTo>
                    <a:pt x="828675" y="714375"/>
                  </a:lnTo>
                  <a:lnTo>
                    <a:pt x="1314450" y="714375"/>
                  </a:lnTo>
                  <a:lnTo>
                    <a:pt x="1981200" y="714375"/>
                  </a:lnTo>
                  <a:lnTo>
                    <a:pt x="2590800" y="714375"/>
                  </a:lnTo>
                  <a:lnTo>
                    <a:pt x="3305175" y="714375"/>
                  </a:lnTo>
                  <a:lnTo>
                    <a:pt x="3305175" y="466725"/>
                  </a:lnTo>
                  <a:lnTo>
                    <a:pt x="3305175" y="238125"/>
                  </a:lnTo>
                  <a:lnTo>
                    <a:pt x="330517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10" name="object 10"/>
          <p:cNvGraphicFramePr>
            <a:graphicFrameLocks noGrp="1"/>
          </p:cNvGraphicFramePr>
          <p:nvPr/>
        </p:nvGraphicFramePr>
        <p:xfrm>
          <a:off x="523874" y="3733799"/>
          <a:ext cx="3314700" cy="93027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28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6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0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7015"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9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Model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900" b="1" spc="-3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Baseline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937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900" b="1" spc="-8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SST-</a:t>
                      </a:r>
                      <a:r>
                        <a:rPr sz="900" b="1" spc="-4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2</a:t>
                      </a:r>
                      <a:r>
                        <a:rPr sz="9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(20%)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900" b="1" spc="-7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SNLI</a:t>
                      </a:r>
                      <a:r>
                        <a:rPr sz="900" b="1" spc="-3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(20%)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355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900" b="1" spc="-1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SQuAD</a:t>
                      </a:r>
                      <a:r>
                        <a:rPr sz="900" b="1" spc="-3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(20%)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965"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000" spc="-145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GPT-</a:t>
                      </a:r>
                      <a:r>
                        <a:rPr sz="1000" spc="-55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2</a:t>
                      </a:r>
                      <a:r>
                        <a:rPr sz="1000" spc="-15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00" spc="-1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Medium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03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000" spc="-2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48.9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03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9370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000" spc="-2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32.9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03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0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000" spc="-2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32.5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03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35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000" spc="-2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32.2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03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490"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000" spc="-95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Qwen-</a:t>
                      </a:r>
                      <a:r>
                        <a:rPr sz="1000" spc="-20" dirty="0">
                          <a:solidFill>
                            <a:srgbClr val="1F2328"/>
                          </a:solidFill>
                          <a:latin typeface="Arial"/>
                          <a:cs typeface="Arial"/>
                        </a:rPr>
                        <a:t>1.5B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032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sz="950" b="1" spc="-20" dirty="0">
                          <a:solidFill>
                            <a:srgbClr val="0FB981"/>
                          </a:solidFill>
                          <a:latin typeface="Trebuchet MS"/>
                          <a:cs typeface="Trebuchet MS"/>
                        </a:rPr>
                        <a:t>25.9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2667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9370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sz="950" b="1" spc="-20" dirty="0">
                          <a:solidFill>
                            <a:srgbClr val="0FB981"/>
                          </a:solidFill>
                          <a:latin typeface="Trebuchet MS"/>
                          <a:cs typeface="Trebuchet MS"/>
                        </a:rPr>
                        <a:t>20.3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2667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0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sz="950" b="1" spc="-20" dirty="0">
                          <a:solidFill>
                            <a:srgbClr val="0FB981"/>
                          </a:solidFill>
                          <a:latin typeface="Trebuchet MS"/>
                          <a:cs typeface="Trebuchet MS"/>
                        </a:rPr>
                        <a:t>19.5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2667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355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sz="950" b="1" spc="-20" dirty="0">
                          <a:solidFill>
                            <a:srgbClr val="0FB981"/>
                          </a:solidFill>
                          <a:latin typeface="Trebuchet MS"/>
                          <a:cs typeface="Trebuchet MS"/>
                        </a:rPr>
                        <a:t>17.5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26670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  <a:lnB w="9525">
                      <a:solidFill>
                        <a:srgbClr val="D0D9D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804"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1050" b="1" spc="-50" dirty="0">
                          <a:solidFill>
                            <a:srgbClr val="0E1729"/>
                          </a:solidFill>
                          <a:latin typeface="Arial"/>
                          <a:cs typeface="Arial"/>
                        </a:rPr>
                        <a:t>Improvement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2349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1050" b="1" spc="-25" dirty="0">
                          <a:solidFill>
                            <a:srgbClr val="0E1729"/>
                          </a:solidFill>
                          <a:latin typeface="Arial"/>
                          <a:cs typeface="Arial"/>
                        </a:rPr>
                        <a:t>47%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2349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39370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1050" b="1" spc="-25" dirty="0">
                          <a:solidFill>
                            <a:srgbClr val="0E1729"/>
                          </a:solidFill>
                          <a:latin typeface="Arial"/>
                          <a:cs typeface="Arial"/>
                        </a:rPr>
                        <a:t>38%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2349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38100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1050" b="1" spc="-25" dirty="0">
                          <a:solidFill>
                            <a:srgbClr val="0E1729"/>
                          </a:solidFill>
                          <a:latin typeface="Arial"/>
                          <a:cs typeface="Arial"/>
                        </a:rPr>
                        <a:t>40%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2349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46355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1050" b="1" spc="-25" dirty="0">
                          <a:solidFill>
                            <a:srgbClr val="0E1729"/>
                          </a:solidFill>
                          <a:latin typeface="Arial"/>
                          <a:cs typeface="Arial"/>
                        </a:rPr>
                        <a:t>46%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23495" marB="0">
                    <a:lnL w="9525">
                      <a:solidFill>
                        <a:srgbClr val="D0D9DF"/>
                      </a:solidFill>
                      <a:prstDash val="solid"/>
                    </a:lnL>
                    <a:lnR w="9525">
                      <a:solidFill>
                        <a:srgbClr val="D0D9DF"/>
                      </a:solidFill>
                      <a:prstDash val="solid"/>
                    </a:lnR>
                    <a:lnT w="9525">
                      <a:solidFill>
                        <a:srgbClr val="D0D9DF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object 11"/>
          <p:cNvSpPr txBox="1"/>
          <p:nvPr/>
        </p:nvSpPr>
        <p:spPr>
          <a:xfrm>
            <a:off x="511175" y="4705834"/>
            <a:ext cx="4239260" cy="1930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50" b="1" spc="-110" dirty="0">
                <a:solidFill>
                  <a:srgbClr val="0E1729"/>
                </a:solidFill>
                <a:latin typeface="Arial"/>
                <a:cs typeface="Arial"/>
              </a:rPr>
              <a:t>Key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65" dirty="0">
                <a:solidFill>
                  <a:srgbClr val="0E1729"/>
                </a:solidFill>
                <a:latin typeface="Arial"/>
                <a:cs typeface="Arial"/>
              </a:rPr>
              <a:t>Insight:</a:t>
            </a:r>
            <a:r>
              <a:rPr sz="1050" b="1" spc="-2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110" dirty="0">
                <a:solidFill>
                  <a:srgbClr val="465469"/>
                </a:solidFill>
                <a:latin typeface="Arial"/>
                <a:cs typeface="Arial"/>
              </a:rPr>
              <a:t>Qwen-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1.5B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achieves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17-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20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14" dirty="0">
                <a:solidFill>
                  <a:srgbClr val="465469"/>
                </a:solidFill>
                <a:latin typeface="Arial"/>
                <a:cs typeface="Arial"/>
              </a:rPr>
              <a:t>PPL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vs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60" dirty="0">
                <a:solidFill>
                  <a:srgbClr val="465469"/>
                </a:solidFill>
                <a:latin typeface="Arial"/>
                <a:cs typeface="Arial"/>
              </a:rPr>
              <a:t>GPT-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2's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32-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33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with </a:t>
            </a:r>
            <a:r>
              <a:rPr sz="1100" spc="-135" dirty="0">
                <a:solidFill>
                  <a:srgbClr val="465469"/>
                </a:solidFill>
                <a:latin typeface="Arial"/>
                <a:cs typeface="Arial"/>
              </a:rPr>
              <a:t>20%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replay</a:t>
            </a:r>
            <a:endParaRPr sz="11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11175" y="2109640"/>
            <a:ext cx="5265420" cy="1590675"/>
          </a:xfrm>
          <a:prstGeom prst="rect">
            <a:avLst/>
          </a:prstGeom>
        </p:spPr>
        <p:txBody>
          <a:bodyPr vert="horz" wrap="square" lIns="0" tIns="393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0"/>
              </a:spcBef>
            </a:pPr>
            <a:r>
              <a:rPr sz="1150" b="1" spc="-90" dirty="0">
                <a:solidFill>
                  <a:srgbClr val="2562EB"/>
                </a:solidFill>
                <a:latin typeface="Arial"/>
                <a:cs typeface="Arial"/>
              </a:rPr>
              <a:t>Scaling</a:t>
            </a:r>
            <a:r>
              <a:rPr sz="1150" b="1" spc="-5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100" dirty="0">
                <a:solidFill>
                  <a:srgbClr val="2562EB"/>
                </a:solidFill>
                <a:latin typeface="Arial"/>
                <a:cs typeface="Arial"/>
              </a:rPr>
              <a:t>Experiment</a:t>
            </a:r>
            <a:r>
              <a:rPr sz="1150" b="1" spc="-5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20" dirty="0">
                <a:solidFill>
                  <a:srgbClr val="2562EB"/>
                </a:solidFill>
                <a:latin typeface="Arial"/>
                <a:cs typeface="Arial"/>
              </a:rPr>
              <a:t>Setup</a:t>
            </a:r>
            <a:endParaRPr sz="11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1050" b="1" spc="-70" dirty="0">
                <a:solidFill>
                  <a:srgbClr val="0E1729"/>
                </a:solidFill>
                <a:latin typeface="Arial"/>
                <a:cs typeface="Arial"/>
              </a:rPr>
              <a:t>Models</a:t>
            </a:r>
            <a:r>
              <a:rPr sz="1050" b="1" spc="-3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10" dirty="0">
                <a:solidFill>
                  <a:srgbClr val="0E1729"/>
                </a:solidFill>
                <a:latin typeface="Arial"/>
                <a:cs typeface="Arial"/>
              </a:rPr>
              <a:t>Tested:</a:t>
            </a:r>
            <a:endParaRPr sz="1050">
              <a:latin typeface="Arial"/>
              <a:cs typeface="Arial"/>
            </a:endParaRPr>
          </a:p>
          <a:p>
            <a:pPr marL="50165">
              <a:lnSpc>
                <a:spcPct val="100000"/>
              </a:lnSpc>
              <a:spcBef>
                <a:spcPts val="290"/>
              </a:spcBef>
            </a:pPr>
            <a:r>
              <a:rPr sz="950" b="1" spc="80" dirty="0">
                <a:solidFill>
                  <a:srgbClr val="3B81F5"/>
                </a:solidFill>
                <a:latin typeface="Meiryo"/>
                <a:cs typeface="Meiryo"/>
              </a:rPr>
              <a:t>▸</a:t>
            </a:r>
            <a:r>
              <a:rPr sz="950" b="1" spc="-150" dirty="0">
                <a:solidFill>
                  <a:srgbClr val="3B81F5"/>
                </a:solidFill>
                <a:latin typeface="Meiryo"/>
                <a:cs typeface="Meiryo"/>
              </a:rPr>
              <a:t> </a:t>
            </a:r>
            <a:r>
              <a:rPr sz="1050" b="1" spc="-95" dirty="0">
                <a:solidFill>
                  <a:srgbClr val="0E1729"/>
                </a:solidFill>
                <a:latin typeface="Arial"/>
                <a:cs typeface="Arial"/>
              </a:rPr>
              <a:t>GPT-</a:t>
            </a:r>
            <a:r>
              <a:rPr sz="1050" b="1" spc="-30" dirty="0">
                <a:solidFill>
                  <a:srgbClr val="0E1729"/>
                </a:solidFill>
                <a:latin typeface="Arial"/>
                <a:cs typeface="Arial"/>
              </a:rPr>
              <a:t>2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70" dirty="0">
                <a:solidFill>
                  <a:srgbClr val="0E1729"/>
                </a:solidFill>
                <a:latin typeface="Arial"/>
                <a:cs typeface="Arial"/>
              </a:rPr>
              <a:t>Medium:</a:t>
            </a:r>
            <a:r>
              <a:rPr sz="1050" b="1" spc="-1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50" spc="-65" dirty="0">
                <a:solidFill>
                  <a:srgbClr val="465469"/>
                </a:solidFill>
                <a:latin typeface="Arial"/>
                <a:cs typeface="Arial"/>
              </a:rPr>
              <a:t>345M</a:t>
            </a:r>
            <a:r>
              <a:rPr sz="115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10" dirty="0">
                <a:solidFill>
                  <a:srgbClr val="465469"/>
                </a:solidFill>
                <a:latin typeface="Arial"/>
                <a:cs typeface="Arial"/>
              </a:rPr>
              <a:t>parameters</a:t>
            </a:r>
            <a:endParaRPr sz="1150">
              <a:latin typeface="Arial"/>
              <a:cs typeface="Arial"/>
            </a:endParaRPr>
          </a:p>
          <a:p>
            <a:pPr marL="50165">
              <a:lnSpc>
                <a:spcPct val="100000"/>
              </a:lnSpc>
              <a:spcBef>
                <a:spcPts val="420"/>
              </a:spcBef>
            </a:pPr>
            <a:r>
              <a:rPr sz="950" b="1" spc="80" dirty="0">
                <a:solidFill>
                  <a:srgbClr val="3B81F5"/>
                </a:solidFill>
                <a:latin typeface="Meiryo"/>
                <a:cs typeface="Meiryo"/>
              </a:rPr>
              <a:t>▸</a:t>
            </a:r>
            <a:r>
              <a:rPr sz="950" b="1" spc="-155" dirty="0">
                <a:solidFill>
                  <a:srgbClr val="3B81F5"/>
                </a:solidFill>
                <a:latin typeface="Meiryo"/>
                <a:cs typeface="Meiryo"/>
              </a:rPr>
              <a:t> </a:t>
            </a:r>
            <a:r>
              <a:rPr sz="1050" b="1" spc="-80" dirty="0">
                <a:solidFill>
                  <a:srgbClr val="0E1729"/>
                </a:solidFill>
                <a:latin typeface="Arial"/>
                <a:cs typeface="Arial"/>
              </a:rPr>
              <a:t>Qwen-</a:t>
            </a:r>
            <a:r>
              <a:rPr sz="1050" b="1" spc="-55" dirty="0">
                <a:solidFill>
                  <a:srgbClr val="0E1729"/>
                </a:solidFill>
                <a:latin typeface="Arial"/>
                <a:cs typeface="Arial"/>
              </a:rPr>
              <a:t>1.5B:</a:t>
            </a:r>
            <a:r>
              <a:rPr sz="1050" b="1" spc="-1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50" spc="-70" dirty="0">
                <a:solidFill>
                  <a:srgbClr val="465469"/>
                </a:solidFill>
                <a:latin typeface="Arial"/>
                <a:cs typeface="Arial"/>
              </a:rPr>
              <a:t>1.5B</a:t>
            </a:r>
            <a:r>
              <a:rPr sz="115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55" dirty="0">
                <a:solidFill>
                  <a:srgbClr val="465469"/>
                </a:solidFill>
                <a:latin typeface="Arial"/>
                <a:cs typeface="Arial"/>
              </a:rPr>
              <a:t>parameters</a:t>
            </a:r>
            <a:r>
              <a:rPr sz="115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65" dirty="0">
                <a:solidFill>
                  <a:srgbClr val="465469"/>
                </a:solidFill>
                <a:latin typeface="Arial"/>
                <a:cs typeface="Arial"/>
              </a:rPr>
              <a:t>(4.3×</a:t>
            </a:r>
            <a:r>
              <a:rPr sz="115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50" spc="-10" dirty="0">
                <a:solidFill>
                  <a:srgbClr val="465469"/>
                </a:solidFill>
                <a:latin typeface="Arial"/>
                <a:cs typeface="Arial"/>
              </a:rPr>
              <a:t>larger)</a:t>
            </a:r>
            <a:endParaRPr sz="1150">
              <a:latin typeface="Arial"/>
              <a:cs typeface="Arial"/>
            </a:endParaRPr>
          </a:p>
          <a:p>
            <a:pPr marL="12700" marR="5080">
              <a:lnSpc>
                <a:spcPct val="108000"/>
              </a:lnSpc>
              <a:spcBef>
                <a:spcPts val="1115"/>
              </a:spcBef>
            </a:pPr>
            <a:r>
              <a:rPr sz="1050" b="1" spc="-75" dirty="0">
                <a:solidFill>
                  <a:srgbClr val="0E1729"/>
                </a:solidFill>
                <a:latin typeface="Arial"/>
                <a:cs typeface="Arial"/>
              </a:rPr>
              <a:t>Protocol:</a:t>
            </a:r>
            <a:r>
              <a:rPr sz="1050" b="1" spc="-3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105" dirty="0">
                <a:solidFill>
                  <a:srgbClr val="465469"/>
                </a:solidFill>
                <a:latin typeface="Arial"/>
                <a:cs typeface="Arial"/>
              </a:rPr>
              <a:t>Same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adapter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setup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(64K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params)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•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5" dirty="0">
                <a:solidFill>
                  <a:srgbClr val="465469"/>
                </a:solidFill>
                <a:latin typeface="Arial"/>
                <a:cs typeface="Arial"/>
              </a:rPr>
              <a:t>Same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replay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ratios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25" dirty="0">
                <a:solidFill>
                  <a:srgbClr val="465469"/>
                </a:solidFill>
                <a:latin typeface="Arial"/>
                <a:cs typeface="Arial"/>
              </a:rPr>
              <a:t>(0%,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30" dirty="0">
                <a:solidFill>
                  <a:srgbClr val="465469"/>
                </a:solidFill>
                <a:latin typeface="Arial"/>
                <a:cs typeface="Arial"/>
              </a:rPr>
              <a:t>10%,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10" dirty="0">
                <a:solidFill>
                  <a:srgbClr val="465469"/>
                </a:solidFill>
                <a:latin typeface="Arial"/>
                <a:cs typeface="Arial"/>
              </a:rPr>
              <a:t>20%)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•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5" dirty="0">
                <a:solidFill>
                  <a:srgbClr val="465469"/>
                </a:solidFill>
                <a:latin typeface="Arial"/>
                <a:cs typeface="Arial"/>
              </a:rPr>
              <a:t>Same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3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tasks </a:t>
            </a:r>
            <a:r>
              <a:rPr sz="1100" spc="-140" dirty="0">
                <a:solidFill>
                  <a:srgbClr val="465469"/>
                </a:solidFill>
                <a:latin typeface="Arial"/>
                <a:cs typeface="Arial"/>
              </a:rPr>
              <a:t>(SST-</a:t>
            </a:r>
            <a:r>
              <a:rPr sz="1100" spc="-90" dirty="0">
                <a:solidFill>
                  <a:srgbClr val="465469"/>
                </a:solidFill>
                <a:latin typeface="Arial"/>
                <a:cs typeface="Arial"/>
              </a:rPr>
              <a:t>2,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5" dirty="0">
                <a:solidFill>
                  <a:srgbClr val="465469"/>
                </a:solidFill>
                <a:latin typeface="Arial"/>
                <a:cs typeface="Arial"/>
              </a:rPr>
              <a:t>SNLI,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SQuAD)</a:t>
            </a:r>
            <a:endParaRPr sz="11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sz="1150" b="1" spc="-95" dirty="0">
                <a:solidFill>
                  <a:srgbClr val="2562EB"/>
                </a:solidFill>
                <a:latin typeface="Arial"/>
                <a:cs typeface="Arial"/>
              </a:rPr>
              <a:t>Results:</a:t>
            </a:r>
            <a:r>
              <a:rPr sz="1150" b="1" spc="-25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114" dirty="0">
                <a:solidFill>
                  <a:srgbClr val="2562EB"/>
                </a:solidFill>
                <a:latin typeface="Arial"/>
                <a:cs typeface="Arial"/>
              </a:rPr>
              <a:t>GPT-</a:t>
            </a:r>
            <a:r>
              <a:rPr sz="1150" b="1" spc="-50" dirty="0">
                <a:solidFill>
                  <a:srgbClr val="2562EB"/>
                </a:solidFill>
                <a:latin typeface="Arial"/>
                <a:cs typeface="Arial"/>
              </a:rPr>
              <a:t>2</a:t>
            </a:r>
            <a:r>
              <a:rPr sz="1150" b="1" spc="-20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90" dirty="0">
                <a:solidFill>
                  <a:srgbClr val="2562EB"/>
                </a:solidFill>
                <a:latin typeface="Arial"/>
                <a:cs typeface="Arial"/>
              </a:rPr>
              <a:t>Medium</a:t>
            </a:r>
            <a:r>
              <a:rPr sz="1150" b="1" spc="-20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120" dirty="0">
                <a:solidFill>
                  <a:srgbClr val="2562EB"/>
                </a:solidFill>
                <a:latin typeface="Arial"/>
                <a:cs typeface="Arial"/>
              </a:rPr>
              <a:t>vs</a:t>
            </a:r>
            <a:r>
              <a:rPr sz="1150" b="1" spc="-20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100" dirty="0">
                <a:solidFill>
                  <a:srgbClr val="2562EB"/>
                </a:solidFill>
                <a:latin typeface="Arial"/>
                <a:cs typeface="Arial"/>
              </a:rPr>
              <a:t>Qwen-</a:t>
            </a:r>
            <a:r>
              <a:rPr sz="1150" b="1" spc="-20" dirty="0">
                <a:solidFill>
                  <a:srgbClr val="2562EB"/>
                </a:solidFill>
                <a:latin typeface="Arial"/>
                <a:cs typeface="Arial"/>
              </a:rPr>
              <a:t>1.5B</a:t>
            </a:r>
            <a:endParaRPr sz="115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159499" y="2134398"/>
            <a:ext cx="1555115" cy="20383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150" b="1" spc="-90" dirty="0">
                <a:solidFill>
                  <a:srgbClr val="2562EB"/>
                </a:solidFill>
                <a:latin typeface="Arial"/>
                <a:cs typeface="Arial"/>
              </a:rPr>
              <a:t>Scaling</a:t>
            </a:r>
            <a:r>
              <a:rPr sz="1150" b="1" spc="-45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114" dirty="0">
                <a:solidFill>
                  <a:srgbClr val="2562EB"/>
                </a:solidFill>
                <a:latin typeface="Arial"/>
                <a:cs typeface="Arial"/>
              </a:rPr>
              <a:t>Law</a:t>
            </a:r>
            <a:r>
              <a:rPr sz="1150" b="1" spc="-40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75" dirty="0">
                <a:solidFill>
                  <a:srgbClr val="2562EB"/>
                </a:solidFill>
                <a:latin typeface="Arial"/>
                <a:cs typeface="Arial"/>
              </a:rPr>
              <a:t>Visualization</a:t>
            </a:r>
            <a:endParaRPr sz="1150">
              <a:latin typeface="Arial"/>
              <a:cs typeface="Arial"/>
            </a:endParaRPr>
          </a:p>
        </p:txBody>
      </p:sp>
      <p:pic>
        <p:nvPicPr>
          <p:cNvPr id="14" name="object 1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201038" y="2393023"/>
            <a:ext cx="5442366" cy="1452827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6159499" y="3930644"/>
            <a:ext cx="5420995" cy="1510665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00"/>
              </a:spcBef>
            </a:pPr>
            <a:r>
              <a:rPr sz="1150" b="1" spc="-130" dirty="0">
                <a:solidFill>
                  <a:srgbClr val="2562EB"/>
                </a:solidFill>
                <a:latin typeface="Arial"/>
                <a:cs typeface="Arial"/>
              </a:rPr>
              <a:t>Key</a:t>
            </a:r>
            <a:r>
              <a:rPr sz="1150" b="1" spc="-60" dirty="0">
                <a:solidFill>
                  <a:srgbClr val="2562EB"/>
                </a:solidFill>
                <a:latin typeface="Arial"/>
                <a:cs typeface="Arial"/>
              </a:rPr>
              <a:t> </a:t>
            </a:r>
            <a:r>
              <a:rPr sz="1150" b="1" spc="-10" dirty="0">
                <a:solidFill>
                  <a:srgbClr val="2562EB"/>
                </a:solidFill>
                <a:latin typeface="Arial"/>
                <a:cs typeface="Arial"/>
              </a:rPr>
              <a:t>Findings</a:t>
            </a:r>
            <a:endParaRPr sz="1150">
              <a:latin typeface="Arial"/>
              <a:cs typeface="Arial"/>
            </a:endParaRPr>
          </a:p>
          <a:p>
            <a:pPr marL="12700" marR="102870" indent="137160">
              <a:lnSpc>
                <a:spcPct val="102299"/>
              </a:lnSpc>
              <a:spcBef>
                <a:spcPts val="140"/>
              </a:spcBef>
              <a:buAutoNum type="arabicPeriod"/>
              <a:tabLst>
                <a:tab pos="149860" algn="l"/>
              </a:tabLst>
            </a:pPr>
            <a:r>
              <a:rPr sz="1050" b="1" spc="-75" dirty="0">
                <a:solidFill>
                  <a:srgbClr val="0E1729"/>
                </a:solidFill>
                <a:latin typeface="Arial"/>
                <a:cs typeface="Arial"/>
              </a:rPr>
              <a:t>Baseline</a:t>
            </a:r>
            <a:r>
              <a:rPr sz="1050" b="1" spc="-2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80" dirty="0">
                <a:solidFill>
                  <a:srgbClr val="0E1729"/>
                </a:solidFill>
                <a:latin typeface="Arial"/>
                <a:cs typeface="Arial"/>
              </a:rPr>
              <a:t>Advantage:</a:t>
            </a:r>
            <a:r>
              <a:rPr sz="1050" b="1" spc="-1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Larger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models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start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with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better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general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knowledge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90" dirty="0">
                <a:solidFill>
                  <a:srgbClr val="465469"/>
                </a:solidFill>
                <a:latin typeface="Arial"/>
                <a:cs typeface="Arial"/>
              </a:rPr>
              <a:t>(Qwen: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25.9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vs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60" dirty="0">
                <a:solidFill>
                  <a:srgbClr val="465469"/>
                </a:solidFill>
                <a:latin typeface="Arial"/>
                <a:cs typeface="Arial"/>
              </a:rPr>
              <a:t>GPT-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2: 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48.9)</a:t>
            </a:r>
            <a:endParaRPr sz="1100">
              <a:latin typeface="Arial"/>
              <a:cs typeface="Arial"/>
            </a:endParaRPr>
          </a:p>
          <a:p>
            <a:pPr marL="12700" marR="5080" indent="137160">
              <a:lnSpc>
                <a:spcPct val="102299"/>
              </a:lnSpc>
              <a:spcBef>
                <a:spcPts val="225"/>
              </a:spcBef>
              <a:buAutoNum type="arabicPeriod"/>
              <a:tabLst>
                <a:tab pos="149860" algn="l"/>
              </a:tabLst>
            </a:pPr>
            <a:r>
              <a:rPr sz="1050" b="1" spc="-55" dirty="0">
                <a:solidFill>
                  <a:srgbClr val="0E1729"/>
                </a:solidFill>
                <a:latin typeface="Arial"/>
                <a:cs typeface="Arial"/>
              </a:rPr>
              <a:t>Post-</a:t>
            </a:r>
            <a:r>
              <a:rPr sz="1050" b="1" spc="-85" dirty="0">
                <a:solidFill>
                  <a:srgbClr val="0E1729"/>
                </a:solidFill>
                <a:latin typeface="Arial"/>
                <a:cs typeface="Arial"/>
              </a:rPr>
              <a:t>Replay</a:t>
            </a:r>
            <a:r>
              <a:rPr sz="1050" b="1" spc="-1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80" dirty="0">
                <a:solidFill>
                  <a:srgbClr val="0E1729"/>
                </a:solidFill>
                <a:latin typeface="Arial"/>
                <a:cs typeface="Arial"/>
              </a:rPr>
              <a:t>Advantage:</a:t>
            </a:r>
            <a:r>
              <a:rPr sz="1050" b="1" spc="-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90" dirty="0">
                <a:solidFill>
                  <a:srgbClr val="465469"/>
                </a:solidFill>
                <a:latin typeface="Arial"/>
                <a:cs typeface="Arial"/>
              </a:rPr>
              <a:t>Size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helps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35" dirty="0">
                <a:solidFill>
                  <a:srgbClr val="465469"/>
                </a:solidFill>
                <a:latin typeface="Arial"/>
                <a:cs typeface="Arial"/>
              </a:rPr>
              <a:t>BOTH</a:t>
            </a:r>
            <a:r>
              <a:rPr sz="1100" spc="-2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pre-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training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25" dirty="0">
                <a:solidFill>
                  <a:srgbClr val="465469"/>
                </a:solidFill>
                <a:latin typeface="Arial"/>
                <a:cs typeface="Arial"/>
              </a:rPr>
              <a:t>AND</a:t>
            </a:r>
            <a:r>
              <a:rPr sz="1100" spc="-2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fine-</a:t>
            </a: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tuning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•</a:t>
            </a:r>
            <a:r>
              <a:rPr sz="1100" spc="-2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10" dirty="0">
                <a:solidFill>
                  <a:srgbClr val="465469"/>
                </a:solidFill>
                <a:latin typeface="Arial"/>
                <a:cs typeface="Arial"/>
              </a:rPr>
              <a:t>Qwen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maintains</a:t>
            </a:r>
            <a:r>
              <a:rPr sz="1100" spc="-2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38-</a:t>
            </a:r>
            <a:r>
              <a:rPr sz="1100" spc="-130" dirty="0">
                <a:solidFill>
                  <a:srgbClr val="465469"/>
                </a:solidFill>
                <a:latin typeface="Arial"/>
                <a:cs typeface="Arial"/>
              </a:rPr>
              <a:t>46%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 better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14" dirty="0">
                <a:solidFill>
                  <a:srgbClr val="465469"/>
                </a:solidFill>
                <a:latin typeface="Arial"/>
                <a:cs typeface="Arial"/>
              </a:rPr>
              <a:t>PPL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465469"/>
                </a:solidFill>
                <a:latin typeface="Arial"/>
                <a:cs typeface="Arial"/>
              </a:rPr>
              <a:t>after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replay</a:t>
            </a:r>
            <a:endParaRPr sz="1100">
              <a:latin typeface="Arial"/>
              <a:cs typeface="Arial"/>
            </a:endParaRPr>
          </a:p>
          <a:p>
            <a:pPr marL="12700" marR="80010" indent="137160">
              <a:lnSpc>
                <a:spcPct val="102299"/>
              </a:lnSpc>
              <a:spcBef>
                <a:spcPts val="145"/>
              </a:spcBef>
              <a:buAutoNum type="arabicPeriod"/>
              <a:tabLst>
                <a:tab pos="149860" algn="l"/>
              </a:tabLst>
            </a:pPr>
            <a:r>
              <a:rPr sz="1050" b="1" spc="-85" dirty="0">
                <a:solidFill>
                  <a:srgbClr val="0E1729"/>
                </a:solidFill>
                <a:latin typeface="Arial"/>
                <a:cs typeface="Arial"/>
              </a:rPr>
              <a:t>Replay</a:t>
            </a:r>
            <a:r>
              <a:rPr sz="1050" b="1" spc="-1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50" dirty="0">
                <a:solidFill>
                  <a:srgbClr val="0E1729"/>
                </a:solidFill>
                <a:latin typeface="Arial"/>
                <a:cs typeface="Arial"/>
              </a:rPr>
              <a:t>Still</a:t>
            </a:r>
            <a:r>
              <a:rPr sz="1050" b="1" spc="-1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65" dirty="0">
                <a:solidFill>
                  <a:srgbClr val="0E1729"/>
                </a:solidFill>
                <a:latin typeface="Arial"/>
                <a:cs typeface="Arial"/>
              </a:rPr>
              <a:t>Critical:</a:t>
            </a:r>
            <a:r>
              <a:rPr sz="1050" b="1" spc="-1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120" dirty="0">
                <a:solidFill>
                  <a:srgbClr val="465469"/>
                </a:solidFill>
                <a:latin typeface="Arial"/>
                <a:cs typeface="Arial"/>
              </a:rPr>
              <a:t>Even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10" dirty="0">
                <a:solidFill>
                  <a:srgbClr val="465469"/>
                </a:solidFill>
                <a:latin typeface="Arial"/>
                <a:cs typeface="Arial"/>
              </a:rPr>
              <a:t>Qwen-</a:t>
            </a:r>
            <a:r>
              <a:rPr sz="1100" spc="-80" dirty="0">
                <a:solidFill>
                  <a:srgbClr val="465469"/>
                </a:solidFill>
                <a:latin typeface="Arial"/>
                <a:cs typeface="Arial"/>
              </a:rPr>
              <a:t>1.5B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shows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dramatic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forgetting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without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replay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(56.5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465469"/>
                </a:solidFill>
                <a:latin typeface="Segoe UI"/>
                <a:cs typeface="Segoe UI"/>
              </a:rPr>
              <a:t>→</a:t>
            </a:r>
            <a:r>
              <a:rPr sz="950" spc="20" dirty="0">
                <a:solidFill>
                  <a:srgbClr val="465469"/>
                </a:solidFill>
                <a:latin typeface="Segoe UI"/>
                <a:cs typeface="Segoe UI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20.3</a:t>
            </a:r>
            <a:r>
              <a:rPr sz="1100" spc="-3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on </a:t>
            </a:r>
            <a:r>
              <a:rPr sz="1100" spc="-165" dirty="0">
                <a:solidFill>
                  <a:srgbClr val="465469"/>
                </a:solidFill>
                <a:latin typeface="Arial"/>
                <a:cs typeface="Arial"/>
              </a:rPr>
              <a:t>SST-</a:t>
            </a:r>
            <a:r>
              <a:rPr sz="1100" spc="-25" dirty="0">
                <a:solidFill>
                  <a:srgbClr val="465469"/>
                </a:solidFill>
                <a:latin typeface="Arial"/>
                <a:cs typeface="Arial"/>
              </a:rPr>
              <a:t>2)</a:t>
            </a:r>
            <a:endParaRPr sz="1100">
              <a:latin typeface="Arial"/>
              <a:cs typeface="Arial"/>
            </a:endParaRPr>
          </a:p>
          <a:p>
            <a:pPr marL="149860" indent="-137160">
              <a:lnSpc>
                <a:spcPct val="100000"/>
              </a:lnSpc>
              <a:spcBef>
                <a:spcPts val="180"/>
              </a:spcBef>
              <a:buAutoNum type="arabicPeriod"/>
              <a:tabLst>
                <a:tab pos="149860" algn="l"/>
              </a:tabLst>
            </a:pPr>
            <a:r>
              <a:rPr sz="1050" b="1" spc="-75" dirty="0">
                <a:solidFill>
                  <a:srgbClr val="0E1729"/>
                </a:solidFill>
                <a:latin typeface="Arial"/>
                <a:cs typeface="Arial"/>
              </a:rPr>
              <a:t>Consistent</a:t>
            </a:r>
            <a:r>
              <a:rPr sz="1050" b="1" spc="-30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050" b="1" spc="-65" dirty="0">
                <a:solidFill>
                  <a:srgbClr val="0E1729"/>
                </a:solidFill>
                <a:latin typeface="Arial"/>
                <a:cs typeface="Arial"/>
              </a:rPr>
              <a:t>Pattern:</a:t>
            </a:r>
            <a:r>
              <a:rPr sz="1050" b="1" spc="-25" dirty="0">
                <a:solidFill>
                  <a:srgbClr val="0E1729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465469"/>
                </a:solidFill>
                <a:latin typeface="Arial"/>
                <a:cs typeface="Arial"/>
              </a:rPr>
              <a:t>All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465469"/>
                </a:solidFill>
                <a:latin typeface="Arial"/>
                <a:cs typeface="Arial"/>
              </a:rPr>
              <a:t>3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tasks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465469"/>
                </a:solidFill>
                <a:latin typeface="Arial"/>
                <a:cs typeface="Arial"/>
              </a:rPr>
              <a:t>show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465469"/>
                </a:solidFill>
                <a:latin typeface="Arial"/>
                <a:cs typeface="Arial"/>
              </a:rPr>
              <a:t>same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465469"/>
                </a:solidFill>
                <a:latin typeface="Arial"/>
                <a:cs typeface="Arial"/>
              </a:rPr>
              <a:t>trend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465469"/>
                </a:solidFill>
                <a:latin typeface="Segoe UI"/>
                <a:cs typeface="Segoe UI"/>
              </a:rPr>
              <a:t>→</a:t>
            </a:r>
            <a:r>
              <a:rPr sz="950" spc="5" dirty="0">
                <a:solidFill>
                  <a:srgbClr val="465469"/>
                </a:solidFill>
                <a:latin typeface="Segoe UI"/>
                <a:cs typeface="Segoe UI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larger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465469"/>
                </a:solidFill>
                <a:latin typeface="Arial"/>
                <a:cs typeface="Arial"/>
              </a:rPr>
              <a:t>models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10" dirty="0">
                <a:solidFill>
                  <a:srgbClr val="465469"/>
                </a:solidFill>
                <a:latin typeface="Arial"/>
                <a:cs typeface="Arial"/>
              </a:rPr>
              <a:t>=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465469"/>
                </a:solidFill>
                <a:latin typeface="Arial"/>
                <a:cs typeface="Arial"/>
              </a:rPr>
              <a:t>better</a:t>
            </a:r>
            <a:r>
              <a:rPr sz="11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65469"/>
                </a:solidFill>
                <a:latin typeface="Arial"/>
                <a:cs typeface="Arial"/>
              </a:rPr>
              <a:t>retention</a:t>
            </a:r>
            <a:endParaRPr sz="11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6fdea275-d6f3-438f-b8d8-013cab2023d3}" enabled="1" method="Privileged" siteId="{f38a5ecd-2813-4862-b11b-ac1d563c806f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922</Words>
  <Application>Microsoft Office PowerPoint</Application>
  <PresentationFormat>Widescreen</PresentationFormat>
  <Paragraphs>160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Meiryo</vt:lpstr>
      <vt:lpstr>Arial</vt:lpstr>
      <vt:lpstr>Calibri</vt:lpstr>
      <vt:lpstr>Lucida Sans Unicode</vt:lpstr>
      <vt:lpstr>Segoe UI</vt:lpstr>
      <vt:lpstr>Trebuchet MS</vt:lpstr>
      <vt:lpstr>Office Theme</vt:lpstr>
      <vt:lpstr>Catastrophic Forgetting in Fine-Tuned LLMs</vt:lpstr>
      <vt:lpstr>Adapters with Replay Mitigation: Experimental Results</vt:lpstr>
      <vt:lpstr>Analysis: Replay Mechanism &amp; Practical Implications</vt:lpstr>
      <vt:lpstr>Model Scaling: Impact of Model Size on Forgetting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Catastrophic Forgetting in Fine-Tuned LLMs</dc:title>
  <cp:lastModifiedBy>Rashmi Bhat Kekanaje</cp:lastModifiedBy>
  <cp:revision>2</cp:revision>
  <dcterms:created xsi:type="dcterms:W3CDTF">2026-04-11T11:55:38Z</dcterms:created>
  <dcterms:modified xsi:type="dcterms:W3CDTF">2026-04-11T11:58:50Z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2026-04-11T00:00:00Z</vt:filetime>
  </property>
  <property fmtid="{D5CDD505-2E9C-101B-9397-08002B2CF9AE}" pid="3" name="Creator">
    <vt:lpwstr>Created by Marp</vt:lpwstr>
  </property>
  <property fmtid="{D5CDD505-2E9C-101B-9397-08002B2CF9AE}" pid="4" name="LastSaved">
    <vt:filetime>2026-04-11T00:00:00Z</vt:filetime>
  </property>
  <property fmtid="{D5CDD505-2E9C-101B-9397-08002B2CF9AE}" pid="5" name="Producer">
    <vt:lpwstr>Created by Marp</vt:lpwstr>
  </property>
</Properties>
</file>